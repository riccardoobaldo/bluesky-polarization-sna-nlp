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6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87" r:id="rId8"/>
    <p:sldId id="263" r:id="rId9"/>
    <p:sldId id="271" r:id="rId10"/>
    <p:sldId id="270" r:id="rId11"/>
    <p:sldId id="269" r:id="rId12"/>
    <p:sldId id="272" r:id="rId13"/>
    <p:sldId id="273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3" r:id="rId22"/>
    <p:sldId id="282" r:id="rId23"/>
    <p:sldId id="284" r:id="rId24"/>
    <p:sldId id="285" r:id="rId25"/>
    <p:sldId id="286" r:id="rId26"/>
    <p:sldId id="288" r:id="rId27"/>
    <p:sldId id="289" r:id="rId28"/>
    <p:sldId id="290" r:id="rId29"/>
    <p:sldId id="291" r:id="rId30"/>
    <p:sldId id="265" r:id="rId31"/>
    <p:sldId id="292" r:id="rId32"/>
    <p:sldId id="293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56"/>
  </p:normalViewPr>
  <p:slideViewPr>
    <p:cSldViewPr snapToGrid="0" snapToObjects="1">
      <p:cViewPr>
        <p:scale>
          <a:sx n="109" d="100"/>
          <a:sy n="109" d="100"/>
        </p:scale>
        <p:origin x="162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310FB9-3519-4633-A193-FE92C900119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D432FD-E079-4ADF-90E6-DEA97121B4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RQ1 (</a:t>
          </a:r>
          <a:r>
            <a:rPr lang="en-US" dirty="0" err="1"/>
            <a:t>Struttura</a:t>
          </a:r>
          <a:r>
            <a:rPr lang="en-US" dirty="0"/>
            <a:t> e </a:t>
          </a:r>
          <a:r>
            <a:rPr lang="en-US" dirty="0" err="1"/>
            <a:t>Segregazione</a:t>
          </a:r>
          <a:r>
            <a:rPr lang="en-US" dirty="0"/>
            <a:t>): Come </a:t>
          </a:r>
          <a:r>
            <a:rPr lang="en-US" dirty="0" err="1"/>
            <a:t>si</a:t>
          </a:r>
          <a:r>
            <a:rPr lang="en-US" dirty="0"/>
            <a:t> </a:t>
          </a:r>
          <a:r>
            <a:rPr lang="en-US" dirty="0" err="1"/>
            <a:t>strutturano</a:t>
          </a:r>
          <a:r>
            <a:rPr lang="en-US" dirty="0"/>
            <a:t> le Echo Chambers </a:t>
          </a:r>
          <a:r>
            <a:rPr lang="en-US" dirty="0" err="1"/>
            <a:t>su</a:t>
          </a:r>
          <a:r>
            <a:rPr lang="en-US" dirty="0"/>
            <a:t> Bluesky?</a:t>
          </a:r>
        </a:p>
      </dgm:t>
    </dgm:pt>
    <dgm:pt modelId="{8B35CCDD-96FE-4C24-B686-9DD02198F821}" type="parTrans" cxnId="{FB830C66-7CA4-4945-94B0-B965A9D462AE}">
      <dgm:prSet/>
      <dgm:spPr/>
      <dgm:t>
        <a:bodyPr/>
        <a:lstStyle/>
        <a:p>
          <a:endParaRPr lang="en-US"/>
        </a:p>
      </dgm:t>
    </dgm:pt>
    <dgm:pt modelId="{116259C7-753D-4AA5-9163-F6AC5769BD2E}" type="sibTrans" cxnId="{FB830C66-7CA4-4945-94B0-B965A9D462AE}">
      <dgm:prSet/>
      <dgm:spPr/>
      <dgm:t>
        <a:bodyPr/>
        <a:lstStyle/>
        <a:p>
          <a:endParaRPr lang="en-US"/>
        </a:p>
      </dgm:t>
    </dgm:pt>
    <dgm:pt modelId="{C92F86D6-9FE8-43E7-816C-D9A167AC86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RQ2 (</a:t>
          </a:r>
          <a:r>
            <a:rPr lang="en-US" dirty="0" err="1"/>
            <a:t>Dinamica</a:t>
          </a:r>
          <a:r>
            <a:rPr lang="en-US" dirty="0"/>
            <a:t> e </a:t>
          </a:r>
          <a:r>
            <a:rPr lang="en-US" dirty="0" err="1"/>
            <a:t>Tossicità</a:t>
          </a:r>
          <a:r>
            <a:rPr lang="en-US" dirty="0"/>
            <a:t>): Qual </a:t>
          </a:r>
          <a:r>
            <a:rPr lang="en-US" dirty="0" err="1"/>
            <a:t>è</a:t>
          </a:r>
          <a:r>
            <a:rPr lang="en-US" dirty="0"/>
            <a:t> </a:t>
          </a:r>
          <a:r>
            <a:rPr lang="en-US" dirty="0" err="1"/>
            <a:t>l'impronta</a:t>
          </a:r>
          <a:r>
            <a:rPr lang="en-US" dirty="0"/>
            <a:t> </a:t>
          </a:r>
          <a:r>
            <a:rPr lang="en-US" dirty="0" err="1"/>
            <a:t>emotiva</a:t>
          </a:r>
          <a:r>
            <a:rPr lang="en-US" dirty="0"/>
            <a:t> del </a:t>
          </a:r>
          <a:r>
            <a:rPr lang="en-US" dirty="0" err="1"/>
            <a:t>dibattito</a:t>
          </a:r>
          <a:r>
            <a:rPr lang="en-US" dirty="0"/>
            <a:t>?</a:t>
          </a:r>
        </a:p>
      </dgm:t>
    </dgm:pt>
    <dgm:pt modelId="{9F2FF406-DB13-4D73-AF02-DCDB7F34E577}" type="parTrans" cxnId="{C7DCA981-1C96-41A4-B488-72FC6311C8FC}">
      <dgm:prSet/>
      <dgm:spPr/>
      <dgm:t>
        <a:bodyPr/>
        <a:lstStyle/>
        <a:p>
          <a:endParaRPr lang="en-US"/>
        </a:p>
      </dgm:t>
    </dgm:pt>
    <dgm:pt modelId="{6B26B1DD-FEA9-49B3-889A-2F151123F387}" type="sibTrans" cxnId="{C7DCA981-1C96-41A4-B488-72FC6311C8FC}">
      <dgm:prSet/>
      <dgm:spPr/>
      <dgm:t>
        <a:bodyPr/>
        <a:lstStyle/>
        <a:p>
          <a:endParaRPr lang="en-US"/>
        </a:p>
      </dgm:t>
    </dgm:pt>
    <dgm:pt modelId="{8551DE52-0BB8-AE44-9DD4-794929CA06D8}">
      <dgm:prSet phldrT="[Text]"/>
      <dgm:spPr/>
      <dgm:t>
        <a:bodyPr/>
        <a:lstStyle/>
        <a:p>
          <a:pPr>
            <a:lnSpc>
              <a:spcPct val="100000"/>
            </a:lnSpc>
          </a:pPr>
          <a:endParaRPr lang="en-GB" dirty="0"/>
        </a:p>
      </dgm:t>
    </dgm:pt>
    <dgm:pt modelId="{085599B3-CA67-3B4B-AA5F-68BB4FA25095}" type="parTrans" cxnId="{289EADDD-C58A-2B4E-A944-46FDFF1A40BF}">
      <dgm:prSet/>
      <dgm:spPr/>
      <dgm:t>
        <a:bodyPr/>
        <a:lstStyle/>
        <a:p>
          <a:endParaRPr lang="en-GB"/>
        </a:p>
      </dgm:t>
    </dgm:pt>
    <dgm:pt modelId="{9A7B5DA4-FFB2-E541-BE8E-E9E5CBB23ABE}" type="sibTrans" cxnId="{289EADDD-C58A-2B4E-A944-46FDFF1A40BF}">
      <dgm:prSet/>
      <dgm:spPr/>
      <dgm:t>
        <a:bodyPr/>
        <a:lstStyle/>
        <a:p>
          <a:endParaRPr lang="en-GB"/>
        </a:p>
      </dgm:t>
    </dgm:pt>
    <dgm:pt modelId="{4721AB13-7AF2-4529-83CF-7AC09F5E3039}" type="pres">
      <dgm:prSet presAssocID="{1A310FB9-3519-4633-A193-FE92C9001196}" presName="root" presStyleCnt="0">
        <dgm:presLayoutVars>
          <dgm:dir/>
          <dgm:resizeHandles val="exact"/>
        </dgm:presLayoutVars>
      </dgm:prSet>
      <dgm:spPr/>
    </dgm:pt>
    <dgm:pt modelId="{389A1CEB-97EE-40CC-9115-77765433EAAF}" type="pres">
      <dgm:prSet presAssocID="{49D432FD-E079-4ADF-90E6-DEA97121B4DF}" presName="compNode" presStyleCnt="0"/>
      <dgm:spPr/>
    </dgm:pt>
    <dgm:pt modelId="{0959C5CD-FE65-4160-8908-56633664084E}" type="pres">
      <dgm:prSet presAssocID="{49D432FD-E079-4ADF-90E6-DEA97121B4DF}" presName="bgRect" presStyleLbl="bgShp" presStyleIdx="0" presStyleCnt="3"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</dgm:pt>
    <dgm:pt modelId="{960B6F8F-9BEC-4508-882C-8D5896F4D645}" type="pres">
      <dgm:prSet presAssocID="{49D432FD-E079-4ADF-90E6-DEA97121B4DF}" presName="iconRect" presStyleLbl="node1" presStyleIdx="0" presStyleCnt="3"/>
      <dgm:spPr>
        <a:blipFill dpi="0" rotWithShape="1">
          <a:blip xmlns:r="http://schemas.openxmlformats.org/officeDocument/2006/relationships">
            <a:biLevel thresh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ECABF302-B0F7-4D7A-BCC8-FE2B6B38D072}" type="pres">
      <dgm:prSet presAssocID="{49D432FD-E079-4ADF-90E6-DEA97121B4DF}" presName="spaceRect" presStyleCnt="0"/>
      <dgm:spPr/>
    </dgm:pt>
    <dgm:pt modelId="{C60D8829-39EA-4493-9E0F-B75C02107B7A}" type="pres">
      <dgm:prSet presAssocID="{49D432FD-E079-4ADF-90E6-DEA97121B4DF}" presName="parTx" presStyleLbl="revTx" presStyleIdx="0" presStyleCnt="3">
        <dgm:presLayoutVars>
          <dgm:chMax val="0"/>
          <dgm:chPref val="0"/>
        </dgm:presLayoutVars>
      </dgm:prSet>
      <dgm:spPr/>
    </dgm:pt>
    <dgm:pt modelId="{72CF83AE-96A2-4291-913F-F9EA3A33A49D}" type="pres">
      <dgm:prSet presAssocID="{116259C7-753D-4AA5-9163-F6AC5769BD2E}" presName="sibTrans" presStyleCnt="0"/>
      <dgm:spPr/>
    </dgm:pt>
    <dgm:pt modelId="{DCF401CC-4D6D-4DB2-AC6C-B35839CB3D0F}" type="pres">
      <dgm:prSet presAssocID="{C92F86D6-9FE8-43E7-816C-D9A167AC8688}" presName="compNode" presStyleCnt="0"/>
      <dgm:spPr/>
    </dgm:pt>
    <dgm:pt modelId="{054D7D17-9E77-4651-9744-73E43A6DCDA5}" type="pres">
      <dgm:prSet presAssocID="{C92F86D6-9FE8-43E7-816C-D9A167AC8688}" presName="bgRect" presStyleLbl="bgShp" presStyleIdx="1" presStyleCnt="3" custLinFactNeighborY="-2490">
        <dgm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dgm:style>
      </dgm:prSet>
      <dgm:spPr/>
    </dgm:pt>
    <dgm:pt modelId="{A6F09798-FA90-455D-AB46-D200CB4C0D36}" type="pres">
      <dgm:prSet presAssocID="{C92F86D6-9FE8-43E7-816C-D9A167AC8688}" presName="iconRect" presStyleLbl="node1" presStyleIdx="1" presStyleCnt="3"/>
      <dgm:spPr>
        <a:blipFill>
          <a:blip xmlns:r="http://schemas.openxmlformats.org/officeDocument/2006/relationships">
            <a:biLevel thresh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7F0FD0A8-9C62-4CC6-AE55-0C108F98D8EC}" type="pres">
      <dgm:prSet presAssocID="{C92F86D6-9FE8-43E7-816C-D9A167AC8688}" presName="spaceRect" presStyleCnt="0"/>
      <dgm:spPr/>
    </dgm:pt>
    <dgm:pt modelId="{6A6E3477-DCEA-4338-B2E1-9728DAE6F151}" type="pres">
      <dgm:prSet presAssocID="{C92F86D6-9FE8-43E7-816C-D9A167AC8688}" presName="parTx" presStyleLbl="revTx" presStyleIdx="1" presStyleCnt="3">
        <dgm:presLayoutVars>
          <dgm:chMax val="0"/>
          <dgm:chPref val="0"/>
        </dgm:presLayoutVars>
      </dgm:prSet>
      <dgm:spPr/>
    </dgm:pt>
    <dgm:pt modelId="{C1D64AF1-FF0F-3C40-9673-FA5D313FF74F}" type="pres">
      <dgm:prSet presAssocID="{6B26B1DD-FEA9-49B3-889A-2F151123F387}" presName="sibTrans" presStyleCnt="0"/>
      <dgm:spPr/>
    </dgm:pt>
    <dgm:pt modelId="{75ACD2E4-674D-C343-975C-3E536F537B8D}" type="pres">
      <dgm:prSet presAssocID="{8551DE52-0BB8-AE44-9DD4-794929CA06D8}" presName="compNode" presStyleCnt="0"/>
      <dgm:spPr/>
    </dgm:pt>
    <dgm:pt modelId="{5D132AA5-DAD2-9046-8580-D64138BAEF7C}" type="pres">
      <dgm:prSet presAssocID="{8551DE52-0BB8-AE44-9DD4-794929CA06D8}" presName="bgRect" presStyleLbl="bgShp" presStyleIdx="2" presStyleCnt="3"/>
      <dgm:spPr>
        <a:solidFill>
          <a:schemeClr val="accent4"/>
        </a:solidFill>
      </dgm:spPr>
    </dgm:pt>
    <dgm:pt modelId="{D339648A-8171-9C45-AC5D-8CA32CCD4CD3}" type="pres">
      <dgm:prSet presAssocID="{8551DE52-0BB8-AE44-9DD4-794929CA06D8}" presName="iconRect" presStyleLbl="node1" presStyleIdx="2" presStyleCnt="3"/>
      <dgm:spPr>
        <a:solidFill>
          <a:schemeClr val="accent4"/>
        </a:solidFill>
      </dgm:spPr>
    </dgm:pt>
    <dgm:pt modelId="{F5E4F883-7BD2-E44C-96AB-4845CF7C8880}" type="pres">
      <dgm:prSet presAssocID="{8551DE52-0BB8-AE44-9DD4-794929CA06D8}" presName="spaceRect" presStyleCnt="0"/>
      <dgm:spPr/>
    </dgm:pt>
    <dgm:pt modelId="{3205EE4B-EA47-0D4D-94EF-C0183E8EA1B3}" type="pres">
      <dgm:prSet presAssocID="{8551DE52-0BB8-AE44-9DD4-794929CA06D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F125017-2C5A-1544-977D-F24060F04104}" type="presOf" srcId="{C92F86D6-9FE8-43E7-816C-D9A167AC8688}" destId="{6A6E3477-DCEA-4338-B2E1-9728DAE6F151}" srcOrd="0" destOrd="0" presId="urn:microsoft.com/office/officeart/2018/2/layout/IconVerticalSolidList"/>
    <dgm:cxn modelId="{3F290458-A181-234E-B6D9-95935E17FBF5}" type="presOf" srcId="{1A310FB9-3519-4633-A193-FE92C9001196}" destId="{4721AB13-7AF2-4529-83CF-7AC09F5E3039}" srcOrd="0" destOrd="0" presId="urn:microsoft.com/office/officeart/2018/2/layout/IconVerticalSolidList"/>
    <dgm:cxn modelId="{FB830C66-7CA4-4945-94B0-B965A9D462AE}" srcId="{1A310FB9-3519-4633-A193-FE92C9001196}" destId="{49D432FD-E079-4ADF-90E6-DEA97121B4DF}" srcOrd="0" destOrd="0" parTransId="{8B35CCDD-96FE-4C24-B686-9DD02198F821}" sibTransId="{116259C7-753D-4AA5-9163-F6AC5769BD2E}"/>
    <dgm:cxn modelId="{E862FA6A-BBDE-484E-8159-169F8F139BEA}" type="presOf" srcId="{49D432FD-E079-4ADF-90E6-DEA97121B4DF}" destId="{C60D8829-39EA-4493-9E0F-B75C02107B7A}" srcOrd="0" destOrd="0" presId="urn:microsoft.com/office/officeart/2018/2/layout/IconVerticalSolidList"/>
    <dgm:cxn modelId="{01FEF076-17FC-E34A-BAF8-71A6F32E8FE6}" type="presOf" srcId="{8551DE52-0BB8-AE44-9DD4-794929CA06D8}" destId="{3205EE4B-EA47-0D4D-94EF-C0183E8EA1B3}" srcOrd="0" destOrd="0" presId="urn:microsoft.com/office/officeart/2018/2/layout/IconVerticalSolidList"/>
    <dgm:cxn modelId="{C7DCA981-1C96-41A4-B488-72FC6311C8FC}" srcId="{1A310FB9-3519-4633-A193-FE92C9001196}" destId="{C92F86D6-9FE8-43E7-816C-D9A167AC8688}" srcOrd="1" destOrd="0" parTransId="{9F2FF406-DB13-4D73-AF02-DCDB7F34E577}" sibTransId="{6B26B1DD-FEA9-49B3-889A-2F151123F387}"/>
    <dgm:cxn modelId="{289EADDD-C58A-2B4E-A944-46FDFF1A40BF}" srcId="{1A310FB9-3519-4633-A193-FE92C9001196}" destId="{8551DE52-0BB8-AE44-9DD4-794929CA06D8}" srcOrd="2" destOrd="0" parTransId="{085599B3-CA67-3B4B-AA5F-68BB4FA25095}" sibTransId="{9A7B5DA4-FFB2-E541-BE8E-E9E5CBB23ABE}"/>
    <dgm:cxn modelId="{D7968BFD-0BFA-BA4B-94C4-D1D27DB5A9EA}" type="presParOf" srcId="{4721AB13-7AF2-4529-83CF-7AC09F5E3039}" destId="{389A1CEB-97EE-40CC-9115-77765433EAAF}" srcOrd="0" destOrd="0" presId="urn:microsoft.com/office/officeart/2018/2/layout/IconVerticalSolidList"/>
    <dgm:cxn modelId="{20BC2E91-32AD-9E47-87A9-15507E21A9F3}" type="presParOf" srcId="{389A1CEB-97EE-40CC-9115-77765433EAAF}" destId="{0959C5CD-FE65-4160-8908-56633664084E}" srcOrd="0" destOrd="0" presId="urn:microsoft.com/office/officeart/2018/2/layout/IconVerticalSolidList"/>
    <dgm:cxn modelId="{7F19CB32-5ED3-6D48-8BEE-BB07D6A27F5A}" type="presParOf" srcId="{389A1CEB-97EE-40CC-9115-77765433EAAF}" destId="{960B6F8F-9BEC-4508-882C-8D5896F4D645}" srcOrd="1" destOrd="0" presId="urn:microsoft.com/office/officeart/2018/2/layout/IconVerticalSolidList"/>
    <dgm:cxn modelId="{51DD0103-26BB-F943-8021-FAC4017AFBD7}" type="presParOf" srcId="{389A1CEB-97EE-40CC-9115-77765433EAAF}" destId="{ECABF302-B0F7-4D7A-BCC8-FE2B6B38D072}" srcOrd="2" destOrd="0" presId="urn:microsoft.com/office/officeart/2018/2/layout/IconVerticalSolidList"/>
    <dgm:cxn modelId="{1E57FFFC-9716-064F-A79C-0443AF4A9E00}" type="presParOf" srcId="{389A1CEB-97EE-40CC-9115-77765433EAAF}" destId="{C60D8829-39EA-4493-9E0F-B75C02107B7A}" srcOrd="3" destOrd="0" presId="urn:microsoft.com/office/officeart/2018/2/layout/IconVerticalSolidList"/>
    <dgm:cxn modelId="{614DC8DE-E5C5-344C-9D6F-14BF737E3546}" type="presParOf" srcId="{4721AB13-7AF2-4529-83CF-7AC09F5E3039}" destId="{72CF83AE-96A2-4291-913F-F9EA3A33A49D}" srcOrd="1" destOrd="0" presId="urn:microsoft.com/office/officeart/2018/2/layout/IconVerticalSolidList"/>
    <dgm:cxn modelId="{90DE71F5-0F28-1F46-AE8C-83EDC680958B}" type="presParOf" srcId="{4721AB13-7AF2-4529-83CF-7AC09F5E3039}" destId="{DCF401CC-4D6D-4DB2-AC6C-B35839CB3D0F}" srcOrd="2" destOrd="0" presId="urn:microsoft.com/office/officeart/2018/2/layout/IconVerticalSolidList"/>
    <dgm:cxn modelId="{5155F429-E6B5-9742-BDF0-3F99FC69C637}" type="presParOf" srcId="{DCF401CC-4D6D-4DB2-AC6C-B35839CB3D0F}" destId="{054D7D17-9E77-4651-9744-73E43A6DCDA5}" srcOrd="0" destOrd="0" presId="urn:microsoft.com/office/officeart/2018/2/layout/IconVerticalSolidList"/>
    <dgm:cxn modelId="{EF4E154C-1F2B-E245-8D17-C1A278051E01}" type="presParOf" srcId="{DCF401CC-4D6D-4DB2-AC6C-B35839CB3D0F}" destId="{A6F09798-FA90-455D-AB46-D200CB4C0D36}" srcOrd="1" destOrd="0" presId="urn:microsoft.com/office/officeart/2018/2/layout/IconVerticalSolidList"/>
    <dgm:cxn modelId="{EF91C0CD-CED5-1148-A3C2-ED7DA8396502}" type="presParOf" srcId="{DCF401CC-4D6D-4DB2-AC6C-B35839CB3D0F}" destId="{7F0FD0A8-9C62-4CC6-AE55-0C108F98D8EC}" srcOrd="2" destOrd="0" presId="urn:microsoft.com/office/officeart/2018/2/layout/IconVerticalSolidList"/>
    <dgm:cxn modelId="{FF36D5AC-291A-A14E-90EB-723D928DF0FA}" type="presParOf" srcId="{DCF401CC-4D6D-4DB2-AC6C-B35839CB3D0F}" destId="{6A6E3477-DCEA-4338-B2E1-9728DAE6F151}" srcOrd="3" destOrd="0" presId="urn:microsoft.com/office/officeart/2018/2/layout/IconVerticalSolidList"/>
    <dgm:cxn modelId="{453813E4-5B27-F448-8152-75F7C3183717}" type="presParOf" srcId="{4721AB13-7AF2-4529-83CF-7AC09F5E3039}" destId="{C1D64AF1-FF0F-3C40-9673-FA5D313FF74F}" srcOrd="3" destOrd="0" presId="urn:microsoft.com/office/officeart/2018/2/layout/IconVerticalSolidList"/>
    <dgm:cxn modelId="{02A941A6-696A-CC4C-8FDE-8D70E963163E}" type="presParOf" srcId="{4721AB13-7AF2-4529-83CF-7AC09F5E3039}" destId="{75ACD2E4-674D-C343-975C-3E536F537B8D}" srcOrd="4" destOrd="0" presId="urn:microsoft.com/office/officeart/2018/2/layout/IconVerticalSolidList"/>
    <dgm:cxn modelId="{C7A97BDE-7BE5-714D-BFF5-090D3129F484}" type="presParOf" srcId="{75ACD2E4-674D-C343-975C-3E536F537B8D}" destId="{5D132AA5-DAD2-9046-8580-D64138BAEF7C}" srcOrd="0" destOrd="0" presId="urn:microsoft.com/office/officeart/2018/2/layout/IconVerticalSolidList"/>
    <dgm:cxn modelId="{D6152798-340C-3143-B28A-7971B30A6C53}" type="presParOf" srcId="{75ACD2E4-674D-C343-975C-3E536F537B8D}" destId="{D339648A-8171-9C45-AC5D-8CA32CCD4CD3}" srcOrd="1" destOrd="0" presId="urn:microsoft.com/office/officeart/2018/2/layout/IconVerticalSolidList"/>
    <dgm:cxn modelId="{6F20CC6C-8B09-E049-A6E7-F18E06F12720}" type="presParOf" srcId="{75ACD2E4-674D-C343-975C-3E536F537B8D}" destId="{F5E4F883-7BD2-E44C-96AB-4845CF7C8880}" srcOrd="2" destOrd="0" presId="urn:microsoft.com/office/officeart/2018/2/layout/IconVerticalSolidList"/>
    <dgm:cxn modelId="{52FB8BF0-8664-8941-BEF6-324B75E5EF4F}" type="presParOf" srcId="{75ACD2E4-674D-C343-975C-3E536F537B8D}" destId="{3205EE4B-EA47-0D4D-94EF-C0183E8EA1B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C013CB-1754-4D61-97EC-E5296C5A2F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accent1_2" csCatId="accent1" phldr="1"/>
      <dgm:spPr/>
      <dgm:t>
        <a:bodyPr/>
        <a:lstStyle/>
        <a:p>
          <a:endParaRPr lang="en-US"/>
        </a:p>
      </dgm:t>
    </dgm:pt>
    <dgm:pt modelId="{FC0D4AC3-0077-47EF-8C2D-2B836665A3B1}">
      <dgm:prSet/>
      <dgm:spPr/>
      <dgm:t>
        <a:bodyPr/>
        <a:lstStyle/>
        <a:p>
          <a:pPr>
            <a:lnSpc>
              <a:spcPct val="100000"/>
            </a:lnSpc>
          </a:pPr>
          <a:r>
            <a:rPr lang="en-IT" dirty="0"/>
            <a:t>Estrazione massiva tramite API ufficiali (atproto) utilizzando un approccio Map-Reduce su 13 keyword polarizzanti legate al tema DEI.</a:t>
          </a:r>
          <a:endParaRPr lang="en-US" dirty="0"/>
        </a:p>
      </dgm:t>
    </dgm:pt>
    <dgm:pt modelId="{8CF765B4-9C8D-4793-9E4E-6BD404239F93}" type="parTrans" cxnId="{D7D96CA6-EB2F-43D6-9A15-9FC887ADD428}">
      <dgm:prSet/>
      <dgm:spPr/>
      <dgm:t>
        <a:bodyPr/>
        <a:lstStyle/>
        <a:p>
          <a:endParaRPr lang="en-US"/>
        </a:p>
      </dgm:t>
    </dgm:pt>
    <dgm:pt modelId="{AA676C86-D1D6-4CDC-B0E0-2056A8EB528C}" type="sibTrans" cxnId="{D7D96CA6-EB2F-43D6-9A15-9FC887ADD428}">
      <dgm:prSet/>
      <dgm:spPr/>
      <dgm:t>
        <a:bodyPr/>
        <a:lstStyle/>
        <a:p>
          <a:endParaRPr lang="en-US"/>
        </a:p>
      </dgm:t>
    </dgm:pt>
    <dgm:pt modelId="{3A0B21D9-6D38-46AE-B629-660AD22512FB}">
      <dgm:prSet/>
      <dgm:spPr/>
      <dgm:t>
        <a:bodyPr/>
        <a:lstStyle/>
        <a:p>
          <a:pPr>
            <a:lnSpc>
              <a:spcPct val="100000"/>
            </a:lnSpc>
          </a:pPr>
          <a:r>
            <a:rPr lang="en-IT" dirty="0"/>
            <a:t>Dataset risultante: </a:t>
          </a:r>
          <a:r>
            <a:rPr lang="en-IT" b="0" i="0" dirty="0"/>
            <a:t>45989</a:t>
          </a:r>
          <a:r>
            <a:rPr lang="en-IT" dirty="0"/>
            <a:t> root posts validi.</a:t>
          </a:r>
          <a:br>
            <a:rPr lang="en-IT" dirty="0"/>
          </a:br>
          <a:r>
            <a:rPr lang="en-US" dirty="0" err="1"/>
            <a:t>Potenziale</a:t>
          </a:r>
          <a:r>
            <a:rPr lang="en-US" dirty="0"/>
            <a:t> </a:t>
          </a:r>
          <a:r>
            <a:rPr lang="en-US" dirty="0" err="1"/>
            <a:t>estrattivo</a:t>
          </a:r>
          <a:r>
            <a:rPr lang="en-US" dirty="0"/>
            <a:t>: </a:t>
          </a:r>
          <a:r>
            <a:rPr lang="en-US" dirty="0" err="1"/>
            <a:t>Oltre</a:t>
          </a:r>
          <a:r>
            <a:rPr lang="en-US" dirty="0"/>
            <a:t> </a:t>
          </a:r>
          <a:r>
            <a:rPr lang="en-IT" b="0" i="0" dirty="0"/>
            <a:t>116500</a:t>
          </a:r>
          <a:r>
            <a:rPr lang="en-US" dirty="0"/>
            <a:t> </a:t>
          </a:r>
          <a:r>
            <a:rPr lang="en-US" dirty="0" err="1"/>
            <a:t>interazioni</a:t>
          </a:r>
          <a:r>
            <a:rPr lang="en-US" dirty="0"/>
            <a:t> </a:t>
          </a:r>
          <a:r>
            <a:rPr lang="en-US" dirty="0" err="1"/>
            <a:t>stimate</a:t>
          </a:r>
          <a:r>
            <a:rPr lang="en-US" dirty="0"/>
            <a:t>.</a:t>
          </a:r>
        </a:p>
      </dgm:t>
    </dgm:pt>
    <dgm:pt modelId="{EB5F3B30-392A-44EE-BEE9-409EE7DEE57B}" type="parTrans" cxnId="{7A2C6B26-78A9-40D2-A851-D89D0031E5F0}">
      <dgm:prSet/>
      <dgm:spPr/>
      <dgm:t>
        <a:bodyPr/>
        <a:lstStyle/>
        <a:p>
          <a:endParaRPr lang="en-US"/>
        </a:p>
      </dgm:t>
    </dgm:pt>
    <dgm:pt modelId="{BA9FDD7A-7507-4995-B28D-7AB61DC937D8}" type="sibTrans" cxnId="{7A2C6B26-78A9-40D2-A851-D89D0031E5F0}">
      <dgm:prSet/>
      <dgm:spPr/>
      <dgm:t>
        <a:bodyPr/>
        <a:lstStyle/>
        <a:p>
          <a:endParaRPr lang="en-US"/>
        </a:p>
      </dgm:t>
    </dgm:pt>
    <dgm:pt modelId="{D37B1F00-7A7E-4155-B80E-FD06F548E94D}" type="pres">
      <dgm:prSet presAssocID="{BEC013CB-1754-4D61-97EC-E5296C5A2F6E}" presName="root" presStyleCnt="0">
        <dgm:presLayoutVars>
          <dgm:dir/>
          <dgm:resizeHandles val="exact"/>
        </dgm:presLayoutVars>
      </dgm:prSet>
      <dgm:spPr/>
    </dgm:pt>
    <dgm:pt modelId="{3D798838-5474-4A3A-9AAF-12BC57A49585}" type="pres">
      <dgm:prSet presAssocID="{FC0D4AC3-0077-47EF-8C2D-2B836665A3B1}" presName="compNode" presStyleCnt="0"/>
      <dgm:spPr/>
    </dgm:pt>
    <dgm:pt modelId="{ACD4A2B5-7CBF-4FA2-9340-EFFAE29D7EA2}" type="pres">
      <dgm:prSet presAssocID="{FC0D4AC3-0077-47EF-8C2D-2B836665A3B1}" presName="bgRect" presStyleLbl="bgShp" presStyleIdx="0" presStyleCnt="2"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</dgm:pt>
    <dgm:pt modelId="{59307B0E-6DB9-4F15-BE02-4BE3D067ED4D}" type="pres">
      <dgm:prSet presAssocID="{FC0D4AC3-0077-47EF-8C2D-2B836665A3B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4712AC1A-D87B-47A8-AFC7-DDC9C09A0B04}" type="pres">
      <dgm:prSet presAssocID="{FC0D4AC3-0077-47EF-8C2D-2B836665A3B1}" presName="spaceRect" presStyleCnt="0"/>
      <dgm:spPr/>
    </dgm:pt>
    <dgm:pt modelId="{F0CA1346-B51D-4ECC-9A49-0E10B78B205A}" type="pres">
      <dgm:prSet presAssocID="{FC0D4AC3-0077-47EF-8C2D-2B836665A3B1}" presName="parTx" presStyleLbl="revTx" presStyleIdx="0" presStyleCnt="2">
        <dgm:presLayoutVars>
          <dgm:chMax val="0"/>
          <dgm:chPref val="0"/>
        </dgm:presLayoutVars>
      </dgm:prSet>
      <dgm:spPr/>
    </dgm:pt>
    <dgm:pt modelId="{8A6C6FDF-33BA-4CE6-B88E-C9AD018F2433}" type="pres">
      <dgm:prSet presAssocID="{AA676C86-D1D6-4CDC-B0E0-2056A8EB528C}" presName="sibTrans" presStyleCnt="0"/>
      <dgm:spPr/>
    </dgm:pt>
    <dgm:pt modelId="{78D5C154-9C0B-4549-9E81-C344A4FC7952}" type="pres">
      <dgm:prSet presAssocID="{3A0B21D9-6D38-46AE-B629-660AD22512FB}" presName="compNode" presStyleCnt="0"/>
      <dgm:spPr/>
    </dgm:pt>
    <dgm:pt modelId="{912A01DF-9595-4473-8A06-350DC12D244B}" type="pres">
      <dgm:prSet presAssocID="{3A0B21D9-6D38-46AE-B629-660AD22512FB}" presName="bgRect" presStyleLbl="bgShp" presStyleIdx="1" presStyleCnt="2"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</dgm:pt>
    <dgm:pt modelId="{DD324A6B-CF52-46F9-9B27-01821A63AFC7}" type="pres">
      <dgm:prSet presAssocID="{3A0B21D9-6D38-46AE-B629-660AD22512F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6C286BCF-D9C5-4F3D-9B15-C14741669D38}" type="pres">
      <dgm:prSet presAssocID="{3A0B21D9-6D38-46AE-B629-660AD22512FB}" presName="spaceRect" presStyleCnt="0"/>
      <dgm:spPr/>
    </dgm:pt>
    <dgm:pt modelId="{BA675F26-0128-4AB7-B9E4-8D0E1C9138A2}" type="pres">
      <dgm:prSet presAssocID="{3A0B21D9-6D38-46AE-B629-660AD22512F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A2C6B26-78A9-40D2-A851-D89D0031E5F0}" srcId="{BEC013CB-1754-4D61-97EC-E5296C5A2F6E}" destId="{3A0B21D9-6D38-46AE-B629-660AD22512FB}" srcOrd="1" destOrd="0" parTransId="{EB5F3B30-392A-44EE-BEE9-409EE7DEE57B}" sibTransId="{BA9FDD7A-7507-4995-B28D-7AB61DC937D8}"/>
    <dgm:cxn modelId="{41BA9C2B-C2B4-5C45-846D-8BE0A449E6C1}" type="presOf" srcId="{BEC013CB-1754-4D61-97EC-E5296C5A2F6E}" destId="{D37B1F00-7A7E-4155-B80E-FD06F548E94D}" srcOrd="0" destOrd="0" presId="urn:microsoft.com/office/officeart/2018/2/layout/IconVerticalSolidList"/>
    <dgm:cxn modelId="{2A148E67-1487-1740-BF1A-32543A0FFEA6}" type="presOf" srcId="{FC0D4AC3-0077-47EF-8C2D-2B836665A3B1}" destId="{F0CA1346-B51D-4ECC-9A49-0E10B78B205A}" srcOrd="0" destOrd="0" presId="urn:microsoft.com/office/officeart/2018/2/layout/IconVerticalSolidList"/>
    <dgm:cxn modelId="{D7D96CA6-EB2F-43D6-9A15-9FC887ADD428}" srcId="{BEC013CB-1754-4D61-97EC-E5296C5A2F6E}" destId="{FC0D4AC3-0077-47EF-8C2D-2B836665A3B1}" srcOrd="0" destOrd="0" parTransId="{8CF765B4-9C8D-4793-9E4E-6BD404239F93}" sibTransId="{AA676C86-D1D6-4CDC-B0E0-2056A8EB528C}"/>
    <dgm:cxn modelId="{37D77AD2-80F6-D348-A824-CE76537646B7}" type="presOf" srcId="{3A0B21D9-6D38-46AE-B629-660AD22512FB}" destId="{BA675F26-0128-4AB7-B9E4-8D0E1C9138A2}" srcOrd="0" destOrd="0" presId="urn:microsoft.com/office/officeart/2018/2/layout/IconVerticalSolidList"/>
    <dgm:cxn modelId="{176468B8-D57C-C448-B624-644D13BBA3BE}" type="presParOf" srcId="{D37B1F00-7A7E-4155-B80E-FD06F548E94D}" destId="{3D798838-5474-4A3A-9AAF-12BC57A49585}" srcOrd="0" destOrd="0" presId="urn:microsoft.com/office/officeart/2018/2/layout/IconVerticalSolidList"/>
    <dgm:cxn modelId="{8EDEF62D-8D72-0F4C-B893-593BC8C64906}" type="presParOf" srcId="{3D798838-5474-4A3A-9AAF-12BC57A49585}" destId="{ACD4A2B5-7CBF-4FA2-9340-EFFAE29D7EA2}" srcOrd="0" destOrd="0" presId="urn:microsoft.com/office/officeart/2018/2/layout/IconVerticalSolidList"/>
    <dgm:cxn modelId="{FA7719D3-9407-BA4E-8168-87AAB90455D2}" type="presParOf" srcId="{3D798838-5474-4A3A-9AAF-12BC57A49585}" destId="{59307B0E-6DB9-4F15-BE02-4BE3D067ED4D}" srcOrd="1" destOrd="0" presId="urn:microsoft.com/office/officeart/2018/2/layout/IconVerticalSolidList"/>
    <dgm:cxn modelId="{C2AEB36F-86AA-5E4D-89FF-73A16CFA1CDD}" type="presParOf" srcId="{3D798838-5474-4A3A-9AAF-12BC57A49585}" destId="{4712AC1A-D87B-47A8-AFC7-DDC9C09A0B04}" srcOrd="2" destOrd="0" presId="urn:microsoft.com/office/officeart/2018/2/layout/IconVerticalSolidList"/>
    <dgm:cxn modelId="{182DC575-B7EE-3D47-9564-BF17C6A8D9D7}" type="presParOf" srcId="{3D798838-5474-4A3A-9AAF-12BC57A49585}" destId="{F0CA1346-B51D-4ECC-9A49-0E10B78B205A}" srcOrd="3" destOrd="0" presId="urn:microsoft.com/office/officeart/2018/2/layout/IconVerticalSolidList"/>
    <dgm:cxn modelId="{2C295E68-9BC6-7345-9A52-6283864F2CEA}" type="presParOf" srcId="{D37B1F00-7A7E-4155-B80E-FD06F548E94D}" destId="{8A6C6FDF-33BA-4CE6-B88E-C9AD018F2433}" srcOrd="1" destOrd="0" presId="urn:microsoft.com/office/officeart/2018/2/layout/IconVerticalSolidList"/>
    <dgm:cxn modelId="{D46E1481-21A9-D04B-A8F8-9903FC0DC46B}" type="presParOf" srcId="{D37B1F00-7A7E-4155-B80E-FD06F548E94D}" destId="{78D5C154-9C0B-4549-9E81-C344A4FC7952}" srcOrd="2" destOrd="0" presId="urn:microsoft.com/office/officeart/2018/2/layout/IconVerticalSolidList"/>
    <dgm:cxn modelId="{424AC6F2-9424-1A47-8917-9F504A99481A}" type="presParOf" srcId="{78D5C154-9C0B-4549-9E81-C344A4FC7952}" destId="{912A01DF-9595-4473-8A06-350DC12D244B}" srcOrd="0" destOrd="0" presId="urn:microsoft.com/office/officeart/2018/2/layout/IconVerticalSolidList"/>
    <dgm:cxn modelId="{92AF56C8-9088-3041-8CAF-150B5DB2A824}" type="presParOf" srcId="{78D5C154-9C0B-4549-9E81-C344A4FC7952}" destId="{DD324A6B-CF52-46F9-9B27-01821A63AFC7}" srcOrd="1" destOrd="0" presId="urn:microsoft.com/office/officeart/2018/2/layout/IconVerticalSolidList"/>
    <dgm:cxn modelId="{FF2B7D49-D0B5-4945-B894-CD8588A19007}" type="presParOf" srcId="{78D5C154-9C0B-4549-9E81-C344A4FC7952}" destId="{6C286BCF-D9C5-4F3D-9B15-C14741669D38}" srcOrd="2" destOrd="0" presId="urn:microsoft.com/office/officeart/2018/2/layout/IconVerticalSolidList"/>
    <dgm:cxn modelId="{1E8D93B8-AD77-8045-87C2-2EF14EF0E9B1}" type="presParOf" srcId="{78D5C154-9C0B-4549-9E81-C344A4FC7952}" destId="{BA675F26-0128-4AB7-B9E4-8D0E1C9138A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B19402-2087-4862-8797-F2C5685330C5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B34476-E76E-4E8D-8E3C-49EB2C3A5005}">
      <dgm:prSet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/>
            <a:t>Estrazione ricorsiva dei thread dei top 2.500 post.</a:t>
          </a:r>
          <a:endParaRPr lang="en-US"/>
        </a:p>
      </dgm:t>
    </dgm:pt>
    <dgm:pt modelId="{D6447F68-9DB9-4A4B-B64C-4F103CA4CF33}" type="parTrans" cxnId="{871D57FA-48E4-48DF-888C-786BCBDE3DEB}">
      <dgm:prSet/>
      <dgm:spPr/>
      <dgm:t>
        <a:bodyPr/>
        <a:lstStyle/>
        <a:p>
          <a:endParaRPr lang="en-US"/>
        </a:p>
      </dgm:t>
    </dgm:pt>
    <dgm:pt modelId="{8916CB83-8A00-4525-8CF1-8D0F220F8D40}" type="sibTrans" cxnId="{871D57FA-48E4-48DF-888C-786BCBDE3DEB}">
      <dgm:prSet/>
      <dgm:spPr/>
      <dgm:t>
        <a:bodyPr/>
        <a:lstStyle/>
        <a:p>
          <a:endParaRPr lang="en-US"/>
        </a:p>
      </dgm:t>
    </dgm:pt>
    <dgm:pt modelId="{2C5114EA-5BE3-4C40-B6CA-B73EE0433AAB}">
      <dgm:prSet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dirty="0" err="1"/>
            <a:t>Grafo</a:t>
          </a:r>
          <a:r>
            <a:rPr lang="en-GB" dirty="0"/>
            <a:t> </a:t>
          </a:r>
          <a:r>
            <a:rPr lang="en-GB" dirty="0" err="1"/>
            <a:t>Diretto</a:t>
          </a:r>
          <a:r>
            <a:rPr lang="en-GB" dirty="0"/>
            <a:t> </a:t>
          </a:r>
          <a:r>
            <a:rPr lang="en-GB" dirty="0" err="1"/>
            <a:t>ripulito</a:t>
          </a:r>
          <a:r>
            <a:rPr lang="en-GB" dirty="0"/>
            <a:t> </a:t>
          </a:r>
          <a:r>
            <a:rPr lang="en-GB" dirty="0" err="1"/>
            <a:t>dai</a:t>
          </a:r>
          <a:r>
            <a:rPr lang="en-GB" dirty="0"/>
            <a:t> self-loop.</a:t>
          </a:r>
          <a:endParaRPr lang="en-US" dirty="0"/>
        </a:p>
      </dgm:t>
    </dgm:pt>
    <dgm:pt modelId="{97BC73B5-5F08-4597-A0FF-8419E97CB61D}" type="parTrans" cxnId="{731DE832-C606-4E8E-968B-4AA1AA820D94}">
      <dgm:prSet/>
      <dgm:spPr/>
      <dgm:t>
        <a:bodyPr/>
        <a:lstStyle/>
        <a:p>
          <a:endParaRPr lang="en-US"/>
        </a:p>
      </dgm:t>
    </dgm:pt>
    <dgm:pt modelId="{BBFF7CE2-00C8-4BF7-8004-297246D8BDFD}" type="sibTrans" cxnId="{731DE832-C606-4E8E-968B-4AA1AA820D94}">
      <dgm:prSet/>
      <dgm:spPr/>
      <dgm:t>
        <a:bodyPr/>
        <a:lstStyle/>
        <a:p>
          <a:endParaRPr lang="en-US"/>
        </a:p>
      </dgm:t>
    </dgm:pt>
    <dgm:pt modelId="{EE56CF43-4638-4958-A890-5D1AB2CFB7E6}">
      <dgm:prSet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dirty="0"/>
            <a:t>Nodi (</a:t>
          </a:r>
          <a:r>
            <a:rPr lang="en-GB" dirty="0" err="1"/>
            <a:t>Utenti</a:t>
          </a:r>
          <a:r>
            <a:rPr lang="en-GB" dirty="0"/>
            <a:t> </a:t>
          </a:r>
          <a:r>
            <a:rPr lang="en-GB" dirty="0" err="1"/>
            <a:t>unici</a:t>
          </a:r>
          <a:r>
            <a:rPr lang="en-GB" dirty="0"/>
            <a:t>): </a:t>
          </a:r>
          <a:r>
            <a:rPr lang="en-IT" b="0" i="0" dirty="0"/>
            <a:t>32443</a:t>
          </a:r>
          <a:endParaRPr lang="en-US" dirty="0"/>
        </a:p>
      </dgm:t>
    </dgm:pt>
    <dgm:pt modelId="{2003E33C-9736-4F11-B63F-1AF6B2D2FE85}" type="parTrans" cxnId="{BF365ED2-5240-4771-BE2E-AA4DF2ED3540}">
      <dgm:prSet/>
      <dgm:spPr/>
      <dgm:t>
        <a:bodyPr/>
        <a:lstStyle/>
        <a:p>
          <a:endParaRPr lang="en-US"/>
        </a:p>
      </dgm:t>
    </dgm:pt>
    <dgm:pt modelId="{C2CF25B2-36E3-43D1-9993-9BCC563F4193}" type="sibTrans" cxnId="{BF365ED2-5240-4771-BE2E-AA4DF2ED3540}">
      <dgm:prSet/>
      <dgm:spPr/>
      <dgm:t>
        <a:bodyPr/>
        <a:lstStyle/>
        <a:p>
          <a:endParaRPr lang="en-US"/>
        </a:p>
      </dgm:t>
    </dgm:pt>
    <dgm:pt modelId="{A7EFE6F7-E51F-4F03-AFCD-53CB041ACFFD}">
      <dgm:prSet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dirty="0"/>
            <a:t>Archi (</a:t>
          </a:r>
          <a:r>
            <a:rPr lang="en-GB" dirty="0" err="1"/>
            <a:t>Interazioni</a:t>
          </a:r>
          <a:r>
            <a:rPr lang="en-GB" dirty="0"/>
            <a:t>): </a:t>
          </a:r>
          <a:r>
            <a:rPr lang="en-IT" b="0" i="0" dirty="0"/>
            <a:t>53621</a:t>
          </a:r>
          <a:endParaRPr lang="en-US" dirty="0"/>
        </a:p>
      </dgm:t>
    </dgm:pt>
    <dgm:pt modelId="{7496E455-1E33-4F23-A193-B193AD2DBB98}" type="parTrans" cxnId="{98FF8690-CA98-45FA-9ED9-AB405C39C48D}">
      <dgm:prSet/>
      <dgm:spPr/>
      <dgm:t>
        <a:bodyPr/>
        <a:lstStyle/>
        <a:p>
          <a:endParaRPr lang="en-US"/>
        </a:p>
      </dgm:t>
    </dgm:pt>
    <dgm:pt modelId="{33856512-DD6D-4A76-B333-5B84C65EFAFC}" type="sibTrans" cxnId="{98FF8690-CA98-45FA-9ED9-AB405C39C48D}">
      <dgm:prSet/>
      <dgm:spPr/>
      <dgm:t>
        <a:bodyPr/>
        <a:lstStyle/>
        <a:p>
          <a:endParaRPr lang="en-US"/>
        </a:p>
      </dgm:t>
    </dgm:pt>
    <dgm:pt modelId="{71811B01-4BC2-7147-8028-18CB9893B40B}" type="pres">
      <dgm:prSet presAssocID="{28B19402-2087-4862-8797-F2C5685330C5}" presName="linearFlow" presStyleCnt="0">
        <dgm:presLayoutVars>
          <dgm:resizeHandles val="exact"/>
        </dgm:presLayoutVars>
      </dgm:prSet>
      <dgm:spPr/>
    </dgm:pt>
    <dgm:pt modelId="{6D2E2E39-735A-FE4C-A03C-96F667FBDE70}" type="pres">
      <dgm:prSet presAssocID="{DFB34476-E76E-4E8D-8E3C-49EB2C3A5005}" presName="node" presStyleLbl="node1" presStyleIdx="0" presStyleCnt="4">
        <dgm:presLayoutVars>
          <dgm:bulletEnabled val="1"/>
        </dgm:presLayoutVars>
      </dgm:prSet>
      <dgm:spPr/>
    </dgm:pt>
    <dgm:pt modelId="{85413BDF-BAD2-5C48-8FE1-7E8D221040DE}" type="pres">
      <dgm:prSet presAssocID="{8916CB83-8A00-4525-8CF1-8D0F220F8D40}" presName="sibTrans" presStyleLbl="sibTrans2D1" presStyleIdx="0" presStyleCnt="3"/>
      <dgm:spPr/>
    </dgm:pt>
    <dgm:pt modelId="{14F91CA8-6DC1-4148-AC7F-756EC2292A08}" type="pres">
      <dgm:prSet presAssocID="{8916CB83-8A00-4525-8CF1-8D0F220F8D40}" presName="connectorText" presStyleLbl="sibTrans2D1" presStyleIdx="0" presStyleCnt="3"/>
      <dgm:spPr/>
    </dgm:pt>
    <dgm:pt modelId="{D4D03A70-FC75-684E-BA66-21E80201B3F9}" type="pres">
      <dgm:prSet presAssocID="{2C5114EA-5BE3-4C40-B6CA-B73EE0433AAB}" presName="node" presStyleLbl="node1" presStyleIdx="1" presStyleCnt="4">
        <dgm:presLayoutVars>
          <dgm:bulletEnabled val="1"/>
        </dgm:presLayoutVars>
      </dgm:prSet>
      <dgm:spPr/>
    </dgm:pt>
    <dgm:pt modelId="{4A4DDAD8-22FD-E94C-82DD-A78F6330C3F8}" type="pres">
      <dgm:prSet presAssocID="{BBFF7CE2-00C8-4BF7-8004-297246D8BDFD}" presName="sibTrans" presStyleLbl="sibTrans2D1" presStyleIdx="1" presStyleCnt="3"/>
      <dgm:spPr/>
    </dgm:pt>
    <dgm:pt modelId="{67DDE658-5880-1641-9B5F-E022EC2C8173}" type="pres">
      <dgm:prSet presAssocID="{BBFF7CE2-00C8-4BF7-8004-297246D8BDFD}" presName="connectorText" presStyleLbl="sibTrans2D1" presStyleIdx="1" presStyleCnt="3"/>
      <dgm:spPr/>
    </dgm:pt>
    <dgm:pt modelId="{48F2237D-1D93-854C-8A5D-55B9C2E8803F}" type="pres">
      <dgm:prSet presAssocID="{EE56CF43-4638-4958-A890-5D1AB2CFB7E6}" presName="node" presStyleLbl="node1" presStyleIdx="2" presStyleCnt="4">
        <dgm:presLayoutVars>
          <dgm:bulletEnabled val="1"/>
        </dgm:presLayoutVars>
      </dgm:prSet>
      <dgm:spPr/>
    </dgm:pt>
    <dgm:pt modelId="{8972AE11-9EEA-DA42-A3B3-7F559F87A514}" type="pres">
      <dgm:prSet presAssocID="{C2CF25B2-36E3-43D1-9993-9BCC563F4193}" presName="sibTrans" presStyleLbl="sibTrans2D1" presStyleIdx="2" presStyleCnt="3"/>
      <dgm:spPr/>
    </dgm:pt>
    <dgm:pt modelId="{8751C16F-51FF-B14C-A563-BB06B9327396}" type="pres">
      <dgm:prSet presAssocID="{C2CF25B2-36E3-43D1-9993-9BCC563F4193}" presName="connectorText" presStyleLbl="sibTrans2D1" presStyleIdx="2" presStyleCnt="3"/>
      <dgm:spPr/>
    </dgm:pt>
    <dgm:pt modelId="{E7CCAFA0-C876-CD44-A81D-5550F72A75B6}" type="pres">
      <dgm:prSet presAssocID="{A7EFE6F7-E51F-4F03-AFCD-53CB041ACFFD}" presName="node" presStyleLbl="node1" presStyleIdx="3" presStyleCnt="4">
        <dgm:presLayoutVars>
          <dgm:bulletEnabled val="1"/>
        </dgm:presLayoutVars>
      </dgm:prSet>
      <dgm:spPr/>
    </dgm:pt>
  </dgm:ptLst>
  <dgm:cxnLst>
    <dgm:cxn modelId="{628D8202-7EF4-CB41-897A-53B0E86DBD4F}" type="presOf" srcId="{8916CB83-8A00-4525-8CF1-8D0F220F8D40}" destId="{85413BDF-BAD2-5C48-8FE1-7E8D221040DE}" srcOrd="0" destOrd="0" presId="urn:microsoft.com/office/officeart/2005/8/layout/process2"/>
    <dgm:cxn modelId="{83BEA432-2760-A845-AB83-D6DA9A278F4C}" type="presOf" srcId="{EE56CF43-4638-4958-A890-5D1AB2CFB7E6}" destId="{48F2237D-1D93-854C-8A5D-55B9C2E8803F}" srcOrd="0" destOrd="0" presId="urn:microsoft.com/office/officeart/2005/8/layout/process2"/>
    <dgm:cxn modelId="{731DE832-C606-4E8E-968B-4AA1AA820D94}" srcId="{28B19402-2087-4862-8797-F2C5685330C5}" destId="{2C5114EA-5BE3-4C40-B6CA-B73EE0433AAB}" srcOrd="1" destOrd="0" parTransId="{97BC73B5-5F08-4597-A0FF-8419E97CB61D}" sibTransId="{BBFF7CE2-00C8-4BF7-8004-297246D8BDFD}"/>
    <dgm:cxn modelId="{D69CA257-AAD7-5849-898A-80150CED4484}" type="presOf" srcId="{BBFF7CE2-00C8-4BF7-8004-297246D8BDFD}" destId="{67DDE658-5880-1641-9B5F-E022EC2C8173}" srcOrd="1" destOrd="0" presId="urn:microsoft.com/office/officeart/2005/8/layout/process2"/>
    <dgm:cxn modelId="{29390867-495B-1948-AC34-BD9467BE6150}" type="presOf" srcId="{C2CF25B2-36E3-43D1-9993-9BCC563F4193}" destId="{8972AE11-9EEA-DA42-A3B3-7F559F87A514}" srcOrd="0" destOrd="0" presId="urn:microsoft.com/office/officeart/2005/8/layout/process2"/>
    <dgm:cxn modelId="{9EE80070-FA08-3E4B-9434-785EAFB39304}" type="presOf" srcId="{BBFF7CE2-00C8-4BF7-8004-297246D8BDFD}" destId="{4A4DDAD8-22FD-E94C-82DD-A78F6330C3F8}" srcOrd="0" destOrd="0" presId="urn:microsoft.com/office/officeart/2005/8/layout/process2"/>
    <dgm:cxn modelId="{3A110B70-CB79-8C46-9F02-5970048A0998}" type="presOf" srcId="{28B19402-2087-4862-8797-F2C5685330C5}" destId="{71811B01-4BC2-7147-8028-18CB9893B40B}" srcOrd="0" destOrd="0" presId="urn:microsoft.com/office/officeart/2005/8/layout/process2"/>
    <dgm:cxn modelId="{98FF8690-CA98-45FA-9ED9-AB405C39C48D}" srcId="{28B19402-2087-4862-8797-F2C5685330C5}" destId="{A7EFE6F7-E51F-4F03-AFCD-53CB041ACFFD}" srcOrd="3" destOrd="0" parTransId="{7496E455-1E33-4F23-A193-B193AD2DBB98}" sibTransId="{33856512-DD6D-4A76-B333-5B84C65EFAFC}"/>
    <dgm:cxn modelId="{94181FC3-754B-8344-89BB-C25926080FC9}" type="presOf" srcId="{C2CF25B2-36E3-43D1-9993-9BCC563F4193}" destId="{8751C16F-51FF-B14C-A563-BB06B9327396}" srcOrd="1" destOrd="0" presId="urn:microsoft.com/office/officeart/2005/8/layout/process2"/>
    <dgm:cxn modelId="{A36DFFC3-D3CF-364F-A275-DACEB5BE0A0A}" type="presOf" srcId="{8916CB83-8A00-4525-8CF1-8D0F220F8D40}" destId="{14F91CA8-6DC1-4148-AC7F-756EC2292A08}" srcOrd="1" destOrd="0" presId="urn:microsoft.com/office/officeart/2005/8/layout/process2"/>
    <dgm:cxn modelId="{BF365ED2-5240-4771-BE2E-AA4DF2ED3540}" srcId="{28B19402-2087-4862-8797-F2C5685330C5}" destId="{EE56CF43-4638-4958-A890-5D1AB2CFB7E6}" srcOrd="2" destOrd="0" parTransId="{2003E33C-9736-4F11-B63F-1AF6B2D2FE85}" sibTransId="{C2CF25B2-36E3-43D1-9993-9BCC563F4193}"/>
    <dgm:cxn modelId="{F7A21BDB-EE05-6243-92C5-B459C49FC73A}" type="presOf" srcId="{DFB34476-E76E-4E8D-8E3C-49EB2C3A5005}" destId="{6D2E2E39-735A-FE4C-A03C-96F667FBDE70}" srcOrd="0" destOrd="0" presId="urn:microsoft.com/office/officeart/2005/8/layout/process2"/>
    <dgm:cxn modelId="{CE1575DE-9FFF-C643-A231-F2A2690D9A5F}" type="presOf" srcId="{A7EFE6F7-E51F-4F03-AFCD-53CB041ACFFD}" destId="{E7CCAFA0-C876-CD44-A81D-5550F72A75B6}" srcOrd="0" destOrd="0" presId="urn:microsoft.com/office/officeart/2005/8/layout/process2"/>
    <dgm:cxn modelId="{ED30AAEF-B63B-3E4C-BB31-9A06A6A8AC7F}" type="presOf" srcId="{2C5114EA-5BE3-4C40-B6CA-B73EE0433AAB}" destId="{D4D03A70-FC75-684E-BA66-21E80201B3F9}" srcOrd="0" destOrd="0" presId="urn:microsoft.com/office/officeart/2005/8/layout/process2"/>
    <dgm:cxn modelId="{871D57FA-48E4-48DF-888C-786BCBDE3DEB}" srcId="{28B19402-2087-4862-8797-F2C5685330C5}" destId="{DFB34476-E76E-4E8D-8E3C-49EB2C3A5005}" srcOrd="0" destOrd="0" parTransId="{D6447F68-9DB9-4A4B-B64C-4F103CA4CF33}" sibTransId="{8916CB83-8A00-4525-8CF1-8D0F220F8D40}"/>
    <dgm:cxn modelId="{7A37CDAC-577A-4D4A-B139-02ACCA66B519}" type="presParOf" srcId="{71811B01-4BC2-7147-8028-18CB9893B40B}" destId="{6D2E2E39-735A-FE4C-A03C-96F667FBDE70}" srcOrd="0" destOrd="0" presId="urn:microsoft.com/office/officeart/2005/8/layout/process2"/>
    <dgm:cxn modelId="{88966876-A8A1-F641-9A6D-1F7D458ADC29}" type="presParOf" srcId="{71811B01-4BC2-7147-8028-18CB9893B40B}" destId="{85413BDF-BAD2-5C48-8FE1-7E8D221040DE}" srcOrd="1" destOrd="0" presId="urn:microsoft.com/office/officeart/2005/8/layout/process2"/>
    <dgm:cxn modelId="{F0B632D9-E331-2848-9653-7502DDF0F9A3}" type="presParOf" srcId="{85413BDF-BAD2-5C48-8FE1-7E8D221040DE}" destId="{14F91CA8-6DC1-4148-AC7F-756EC2292A08}" srcOrd="0" destOrd="0" presId="urn:microsoft.com/office/officeart/2005/8/layout/process2"/>
    <dgm:cxn modelId="{8DBAC3AD-803F-5947-8310-6B8DECB2E682}" type="presParOf" srcId="{71811B01-4BC2-7147-8028-18CB9893B40B}" destId="{D4D03A70-FC75-684E-BA66-21E80201B3F9}" srcOrd="2" destOrd="0" presId="urn:microsoft.com/office/officeart/2005/8/layout/process2"/>
    <dgm:cxn modelId="{60E29BC1-36BF-224E-85B8-40B5CC64637F}" type="presParOf" srcId="{71811B01-4BC2-7147-8028-18CB9893B40B}" destId="{4A4DDAD8-22FD-E94C-82DD-A78F6330C3F8}" srcOrd="3" destOrd="0" presId="urn:microsoft.com/office/officeart/2005/8/layout/process2"/>
    <dgm:cxn modelId="{9AE61099-7B11-7E4B-B86E-CD97E1B8BBAB}" type="presParOf" srcId="{4A4DDAD8-22FD-E94C-82DD-A78F6330C3F8}" destId="{67DDE658-5880-1641-9B5F-E022EC2C8173}" srcOrd="0" destOrd="0" presId="urn:microsoft.com/office/officeart/2005/8/layout/process2"/>
    <dgm:cxn modelId="{6BF20622-9EC5-944F-98F9-6FBCFA2A8CB5}" type="presParOf" srcId="{71811B01-4BC2-7147-8028-18CB9893B40B}" destId="{48F2237D-1D93-854C-8A5D-55B9C2E8803F}" srcOrd="4" destOrd="0" presId="urn:microsoft.com/office/officeart/2005/8/layout/process2"/>
    <dgm:cxn modelId="{A97DC33B-4208-3F41-8DBC-AC3B01D42D76}" type="presParOf" srcId="{71811B01-4BC2-7147-8028-18CB9893B40B}" destId="{8972AE11-9EEA-DA42-A3B3-7F559F87A514}" srcOrd="5" destOrd="0" presId="urn:microsoft.com/office/officeart/2005/8/layout/process2"/>
    <dgm:cxn modelId="{E3AC5E82-B70E-0B40-9CA0-214294472244}" type="presParOf" srcId="{8972AE11-9EEA-DA42-A3B3-7F559F87A514}" destId="{8751C16F-51FF-B14C-A563-BB06B9327396}" srcOrd="0" destOrd="0" presId="urn:microsoft.com/office/officeart/2005/8/layout/process2"/>
    <dgm:cxn modelId="{A98A937F-106C-3F4D-96CC-4C3699834B5F}" type="presParOf" srcId="{71811B01-4BC2-7147-8028-18CB9893B40B}" destId="{E7CCAFA0-C876-CD44-A81D-5550F72A75B6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8B19402-2087-4862-8797-F2C5685330C5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B34476-E76E-4E8D-8E3C-49EB2C3A5005}">
      <dgm:prSet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dirty="0" err="1"/>
            <a:t>Partizionamento</a:t>
          </a:r>
          <a:r>
            <a:rPr lang="en-GB" dirty="0"/>
            <a:t> </a:t>
          </a:r>
          <a:r>
            <a:rPr lang="en-GB" dirty="0" err="1"/>
            <a:t>tramite</a:t>
          </a:r>
          <a:r>
            <a:rPr lang="en-GB" dirty="0"/>
            <a:t> </a:t>
          </a:r>
          <a:r>
            <a:rPr lang="en-GB" dirty="0" err="1"/>
            <a:t>Algoritmo</a:t>
          </a:r>
          <a:r>
            <a:rPr lang="en-GB" dirty="0"/>
            <a:t> di Louvain</a:t>
          </a:r>
          <a:endParaRPr lang="en-US" dirty="0"/>
        </a:p>
      </dgm:t>
    </dgm:pt>
    <dgm:pt modelId="{D6447F68-9DB9-4A4B-B64C-4F103CA4CF33}" type="parTrans" cxnId="{871D57FA-48E4-48DF-888C-786BCBDE3DEB}">
      <dgm:prSet/>
      <dgm:spPr/>
      <dgm:t>
        <a:bodyPr/>
        <a:lstStyle/>
        <a:p>
          <a:endParaRPr lang="en-US"/>
        </a:p>
      </dgm:t>
    </dgm:pt>
    <dgm:pt modelId="{8916CB83-8A00-4525-8CF1-8D0F220F8D40}" type="sibTrans" cxnId="{871D57FA-48E4-48DF-888C-786BCBDE3DEB}">
      <dgm:prSet/>
      <dgm:spPr/>
      <dgm:t>
        <a:bodyPr/>
        <a:lstStyle/>
        <a:p>
          <a:endParaRPr lang="en-US"/>
        </a:p>
      </dgm:t>
    </dgm:pt>
    <dgm:pt modelId="{2C5114EA-5BE3-4C40-B6CA-B73EE0433AAB}">
      <dgm:prSet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dirty="0" err="1"/>
            <a:t>Obiettivo</a:t>
          </a:r>
          <a:r>
            <a:rPr lang="en-GB" dirty="0"/>
            <a:t>: </a:t>
          </a:r>
          <a:r>
            <a:rPr lang="en-GB" dirty="0" err="1"/>
            <a:t>trovare</a:t>
          </a:r>
          <a:r>
            <a:rPr lang="en-GB" dirty="0"/>
            <a:t> </a:t>
          </a:r>
          <a:r>
            <a:rPr lang="en-GB" dirty="0" err="1"/>
            <a:t>sottogruppi</a:t>
          </a:r>
          <a:r>
            <a:rPr lang="en-GB" dirty="0"/>
            <a:t> </a:t>
          </a:r>
          <a:r>
            <a:rPr lang="en-GB" dirty="0" err="1"/>
            <a:t>chiusi</a:t>
          </a:r>
          <a:r>
            <a:rPr lang="en-GB" dirty="0"/>
            <a:t> con </a:t>
          </a:r>
          <a:r>
            <a:rPr lang="en-GB" dirty="0" err="1"/>
            <a:t>alta</a:t>
          </a:r>
          <a:r>
            <a:rPr lang="en-GB" dirty="0"/>
            <a:t> </a:t>
          </a:r>
          <a:r>
            <a:rPr lang="en-GB" dirty="0" err="1"/>
            <a:t>densità</a:t>
          </a:r>
          <a:r>
            <a:rPr lang="en-GB" dirty="0"/>
            <a:t> di </a:t>
          </a:r>
          <a:r>
            <a:rPr lang="en-GB" dirty="0" err="1"/>
            <a:t>comunicazione</a:t>
          </a:r>
          <a:r>
            <a:rPr lang="en-GB" dirty="0"/>
            <a:t> interna.</a:t>
          </a:r>
          <a:endParaRPr lang="en-US" dirty="0"/>
        </a:p>
      </dgm:t>
    </dgm:pt>
    <dgm:pt modelId="{97BC73B5-5F08-4597-A0FF-8419E97CB61D}" type="parTrans" cxnId="{731DE832-C606-4E8E-968B-4AA1AA820D94}">
      <dgm:prSet/>
      <dgm:spPr/>
      <dgm:t>
        <a:bodyPr/>
        <a:lstStyle/>
        <a:p>
          <a:endParaRPr lang="en-US"/>
        </a:p>
      </dgm:t>
    </dgm:pt>
    <dgm:pt modelId="{BBFF7CE2-00C8-4BF7-8004-297246D8BDFD}" type="sibTrans" cxnId="{731DE832-C606-4E8E-968B-4AA1AA820D94}">
      <dgm:prSet/>
      <dgm:spPr/>
      <dgm:t>
        <a:bodyPr/>
        <a:lstStyle/>
        <a:p>
          <a:endParaRPr lang="en-US"/>
        </a:p>
      </dgm:t>
    </dgm:pt>
    <dgm:pt modelId="{EE56CF43-4638-4958-A890-5D1AB2CFB7E6}">
      <dgm:prSet>
        <dgm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GB" dirty="0" err="1"/>
            <a:t>Risultato</a:t>
          </a:r>
          <a:r>
            <a:rPr lang="en-GB" dirty="0"/>
            <a:t>: </a:t>
          </a:r>
          <a:r>
            <a:rPr lang="en-GB" dirty="0" err="1"/>
            <a:t>Trovate</a:t>
          </a:r>
          <a:r>
            <a:rPr lang="en-GB" dirty="0"/>
            <a:t> </a:t>
          </a:r>
          <a:r>
            <a:rPr lang="en-IT" b="0" i="0" dirty="0"/>
            <a:t>430</a:t>
          </a:r>
          <a:r>
            <a:rPr lang="en-GB" dirty="0"/>
            <a:t> community isolate.</a:t>
          </a:r>
          <a:endParaRPr lang="en-US" dirty="0"/>
        </a:p>
      </dgm:t>
    </dgm:pt>
    <dgm:pt modelId="{2003E33C-9736-4F11-B63F-1AF6B2D2FE85}" type="parTrans" cxnId="{BF365ED2-5240-4771-BE2E-AA4DF2ED3540}">
      <dgm:prSet/>
      <dgm:spPr/>
      <dgm:t>
        <a:bodyPr/>
        <a:lstStyle/>
        <a:p>
          <a:endParaRPr lang="en-US"/>
        </a:p>
      </dgm:t>
    </dgm:pt>
    <dgm:pt modelId="{C2CF25B2-36E3-43D1-9993-9BCC563F4193}" type="sibTrans" cxnId="{BF365ED2-5240-4771-BE2E-AA4DF2ED3540}">
      <dgm:prSet/>
      <dgm:spPr/>
      <dgm:t>
        <a:bodyPr/>
        <a:lstStyle/>
        <a:p>
          <a:endParaRPr lang="en-US"/>
        </a:p>
      </dgm:t>
    </dgm:pt>
    <dgm:pt modelId="{71811B01-4BC2-7147-8028-18CB9893B40B}" type="pres">
      <dgm:prSet presAssocID="{28B19402-2087-4862-8797-F2C5685330C5}" presName="linearFlow" presStyleCnt="0">
        <dgm:presLayoutVars>
          <dgm:resizeHandles val="exact"/>
        </dgm:presLayoutVars>
      </dgm:prSet>
      <dgm:spPr/>
    </dgm:pt>
    <dgm:pt modelId="{6D2E2E39-735A-FE4C-A03C-96F667FBDE70}" type="pres">
      <dgm:prSet presAssocID="{DFB34476-E76E-4E8D-8E3C-49EB2C3A5005}" presName="node" presStyleLbl="node1" presStyleIdx="0" presStyleCnt="3">
        <dgm:presLayoutVars>
          <dgm:bulletEnabled val="1"/>
        </dgm:presLayoutVars>
      </dgm:prSet>
      <dgm:spPr/>
    </dgm:pt>
    <dgm:pt modelId="{85413BDF-BAD2-5C48-8FE1-7E8D221040DE}" type="pres">
      <dgm:prSet presAssocID="{8916CB83-8A00-4525-8CF1-8D0F220F8D40}" presName="sibTrans" presStyleLbl="sibTrans2D1" presStyleIdx="0" presStyleCnt="2"/>
      <dgm:spPr/>
    </dgm:pt>
    <dgm:pt modelId="{14F91CA8-6DC1-4148-AC7F-756EC2292A08}" type="pres">
      <dgm:prSet presAssocID="{8916CB83-8A00-4525-8CF1-8D0F220F8D40}" presName="connectorText" presStyleLbl="sibTrans2D1" presStyleIdx="0" presStyleCnt="2"/>
      <dgm:spPr/>
    </dgm:pt>
    <dgm:pt modelId="{D4D03A70-FC75-684E-BA66-21E80201B3F9}" type="pres">
      <dgm:prSet presAssocID="{2C5114EA-5BE3-4C40-B6CA-B73EE0433AAB}" presName="node" presStyleLbl="node1" presStyleIdx="1" presStyleCnt="3">
        <dgm:presLayoutVars>
          <dgm:bulletEnabled val="1"/>
        </dgm:presLayoutVars>
      </dgm:prSet>
      <dgm:spPr/>
    </dgm:pt>
    <dgm:pt modelId="{4A4DDAD8-22FD-E94C-82DD-A78F6330C3F8}" type="pres">
      <dgm:prSet presAssocID="{BBFF7CE2-00C8-4BF7-8004-297246D8BDFD}" presName="sibTrans" presStyleLbl="sibTrans2D1" presStyleIdx="1" presStyleCnt="2"/>
      <dgm:spPr/>
    </dgm:pt>
    <dgm:pt modelId="{67DDE658-5880-1641-9B5F-E022EC2C8173}" type="pres">
      <dgm:prSet presAssocID="{BBFF7CE2-00C8-4BF7-8004-297246D8BDFD}" presName="connectorText" presStyleLbl="sibTrans2D1" presStyleIdx="1" presStyleCnt="2"/>
      <dgm:spPr/>
    </dgm:pt>
    <dgm:pt modelId="{48F2237D-1D93-854C-8A5D-55B9C2E8803F}" type="pres">
      <dgm:prSet presAssocID="{EE56CF43-4638-4958-A890-5D1AB2CFB7E6}" presName="node" presStyleLbl="node1" presStyleIdx="2" presStyleCnt="3">
        <dgm:presLayoutVars>
          <dgm:bulletEnabled val="1"/>
        </dgm:presLayoutVars>
      </dgm:prSet>
      <dgm:spPr/>
    </dgm:pt>
  </dgm:ptLst>
  <dgm:cxnLst>
    <dgm:cxn modelId="{628D8202-7EF4-CB41-897A-53B0E86DBD4F}" type="presOf" srcId="{8916CB83-8A00-4525-8CF1-8D0F220F8D40}" destId="{85413BDF-BAD2-5C48-8FE1-7E8D221040DE}" srcOrd="0" destOrd="0" presId="urn:microsoft.com/office/officeart/2005/8/layout/process2"/>
    <dgm:cxn modelId="{83BEA432-2760-A845-AB83-D6DA9A278F4C}" type="presOf" srcId="{EE56CF43-4638-4958-A890-5D1AB2CFB7E6}" destId="{48F2237D-1D93-854C-8A5D-55B9C2E8803F}" srcOrd="0" destOrd="0" presId="urn:microsoft.com/office/officeart/2005/8/layout/process2"/>
    <dgm:cxn modelId="{731DE832-C606-4E8E-968B-4AA1AA820D94}" srcId="{28B19402-2087-4862-8797-F2C5685330C5}" destId="{2C5114EA-5BE3-4C40-B6CA-B73EE0433AAB}" srcOrd="1" destOrd="0" parTransId="{97BC73B5-5F08-4597-A0FF-8419E97CB61D}" sibTransId="{BBFF7CE2-00C8-4BF7-8004-297246D8BDFD}"/>
    <dgm:cxn modelId="{D69CA257-AAD7-5849-898A-80150CED4484}" type="presOf" srcId="{BBFF7CE2-00C8-4BF7-8004-297246D8BDFD}" destId="{67DDE658-5880-1641-9B5F-E022EC2C8173}" srcOrd="1" destOrd="0" presId="urn:microsoft.com/office/officeart/2005/8/layout/process2"/>
    <dgm:cxn modelId="{9EE80070-FA08-3E4B-9434-785EAFB39304}" type="presOf" srcId="{BBFF7CE2-00C8-4BF7-8004-297246D8BDFD}" destId="{4A4DDAD8-22FD-E94C-82DD-A78F6330C3F8}" srcOrd="0" destOrd="0" presId="urn:microsoft.com/office/officeart/2005/8/layout/process2"/>
    <dgm:cxn modelId="{3A110B70-CB79-8C46-9F02-5970048A0998}" type="presOf" srcId="{28B19402-2087-4862-8797-F2C5685330C5}" destId="{71811B01-4BC2-7147-8028-18CB9893B40B}" srcOrd="0" destOrd="0" presId="urn:microsoft.com/office/officeart/2005/8/layout/process2"/>
    <dgm:cxn modelId="{A36DFFC3-D3CF-364F-A275-DACEB5BE0A0A}" type="presOf" srcId="{8916CB83-8A00-4525-8CF1-8D0F220F8D40}" destId="{14F91CA8-6DC1-4148-AC7F-756EC2292A08}" srcOrd="1" destOrd="0" presId="urn:microsoft.com/office/officeart/2005/8/layout/process2"/>
    <dgm:cxn modelId="{BF365ED2-5240-4771-BE2E-AA4DF2ED3540}" srcId="{28B19402-2087-4862-8797-F2C5685330C5}" destId="{EE56CF43-4638-4958-A890-5D1AB2CFB7E6}" srcOrd="2" destOrd="0" parTransId="{2003E33C-9736-4F11-B63F-1AF6B2D2FE85}" sibTransId="{C2CF25B2-36E3-43D1-9993-9BCC563F4193}"/>
    <dgm:cxn modelId="{F7A21BDB-EE05-6243-92C5-B459C49FC73A}" type="presOf" srcId="{DFB34476-E76E-4E8D-8E3C-49EB2C3A5005}" destId="{6D2E2E39-735A-FE4C-A03C-96F667FBDE70}" srcOrd="0" destOrd="0" presId="urn:microsoft.com/office/officeart/2005/8/layout/process2"/>
    <dgm:cxn modelId="{ED30AAEF-B63B-3E4C-BB31-9A06A6A8AC7F}" type="presOf" srcId="{2C5114EA-5BE3-4C40-B6CA-B73EE0433AAB}" destId="{D4D03A70-FC75-684E-BA66-21E80201B3F9}" srcOrd="0" destOrd="0" presId="urn:microsoft.com/office/officeart/2005/8/layout/process2"/>
    <dgm:cxn modelId="{871D57FA-48E4-48DF-888C-786BCBDE3DEB}" srcId="{28B19402-2087-4862-8797-F2C5685330C5}" destId="{DFB34476-E76E-4E8D-8E3C-49EB2C3A5005}" srcOrd="0" destOrd="0" parTransId="{D6447F68-9DB9-4A4B-B64C-4F103CA4CF33}" sibTransId="{8916CB83-8A00-4525-8CF1-8D0F220F8D40}"/>
    <dgm:cxn modelId="{7A37CDAC-577A-4D4A-B139-02ACCA66B519}" type="presParOf" srcId="{71811B01-4BC2-7147-8028-18CB9893B40B}" destId="{6D2E2E39-735A-FE4C-A03C-96F667FBDE70}" srcOrd="0" destOrd="0" presId="urn:microsoft.com/office/officeart/2005/8/layout/process2"/>
    <dgm:cxn modelId="{88966876-A8A1-F641-9A6D-1F7D458ADC29}" type="presParOf" srcId="{71811B01-4BC2-7147-8028-18CB9893B40B}" destId="{85413BDF-BAD2-5C48-8FE1-7E8D221040DE}" srcOrd="1" destOrd="0" presId="urn:microsoft.com/office/officeart/2005/8/layout/process2"/>
    <dgm:cxn modelId="{F0B632D9-E331-2848-9653-7502DDF0F9A3}" type="presParOf" srcId="{85413BDF-BAD2-5C48-8FE1-7E8D221040DE}" destId="{14F91CA8-6DC1-4148-AC7F-756EC2292A08}" srcOrd="0" destOrd="0" presId="urn:microsoft.com/office/officeart/2005/8/layout/process2"/>
    <dgm:cxn modelId="{8DBAC3AD-803F-5947-8310-6B8DECB2E682}" type="presParOf" srcId="{71811B01-4BC2-7147-8028-18CB9893B40B}" destId="{D4D03A70-FC75-684E-BA66-21E80201B3F9}" srcOrd="2" destOrd="0" presId="urn:microsoft.com/office/officeart/2005/8/layout/process2"/>
    <dgm:cxn modelId="{60E29BC1-36BF-224E-85B8-40B5CC64637F}" type="presParOf" srcId="{71811B01-4BC2-7147-8028-18CB9893B40B}" destId="{4A4DDAD8-22FD-E94C-82DD-A78F6330C3F8}" srcOrd="3" destOrd="0" presId="urn:microsoft.com/office/officeart/2005/8/layout/process2"/>
    <dgm:cxn modelId="{9AE61099-7B11-7E4B-B86E-CD97E1B8BBAB}" type="presParOf" srcId="{4A4DDAD8-22FD-E94C-82DD-A78F6330C3F8}" destId="{67DDE658-5880-1641-9B5F-E022EC2C8173}" srcOrd="0" destOrd="0" presId="urn:microsoft.com/office/officeart/2005/8/layout/process2"/>
    <dgm:cxn modelId="{6BF20622-9EC5-944F-98F9-6FBCFA2A8CB5}" type="presParOf" srcId="{71811B01-4BC2-7147-8028-18CB9893B40B}" destId="{48F2237D-1D93-854C-8A5D-55B9C2E8803F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B1F144C-4D29-40BB-889E-082BB4BB82F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36045A-DAE4-4ADB-B03D-2B8D597378F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Clustering Coefficient Medio</a:t>
          </a:r>
          <a:r>
            <a:rPr lang="en-US" dirty="0"/>
            <a:t>: 0.0467</a:t>
          </a:r>
        </a:p>
      </dgm:t>
    </dgm:pt>
    <dgm:pt modelId="{C03B57BB-54C0-40C4-8AF7-7C1FD0312DC5}" type="parTrans" cxnId="{090018E2-EAA9-4BFD-BFFC-080AB8247614}">
      <dgm:prSet/>
      <dgm:spPr/>
      <dgm:t>
        <a:bodyPr/>
        <a:lstStyle/>
        <a:p>
          <a:endParaRPr lang="en-US"/>
        </a:p>
      </dgm:t>
    </dgm:pt>
    <dgm:pt modelId="{42E59BF7-0A48-47D1-9C9C-A2271614206B}" type="sibTrans" cxnId="{090018E2-EAA9-4BFD-BFFC-080AB8247614}">
      <dgm:prSet/>
      <dgm:spPr/>
      <dgm:t>
        <a:bodyPr/>
        <a:lstStyle/>
        <a:p>
          <a:endParaRPr lang="en-US"/>
        </a:p>
      </dgm:t>
    </dgm:pt>
    <dgm:pt modelId="{0DBA296B-AF46-442F-8036-CF71B50AB7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Significato</a:t>
          </a:r>
          <a:r>
            <a:rPr lang="en-US" dirty="0"/>
            <a:t>: Misura la </a:t>
          </a:r>
          <a:r>
            <a:rPr lang="en-US" dirty="0" err="1"/>
            <a:t>tendenza</a:t>
          </a:r>
          <a:r>
            <a:rPr lang="en-US" dirty="0"/>
            <a:t> degli </a:t>
          </a:r>
          <a:r>
            <a:rPr lang="en-US" dirty="0" err="1"/>
            <a:t>utenti</a:t>
          </a:r>
          <a:r>
            <a:rPr lang="en-US" dirty="0"/>
            <a:t> a </a:t>
          </a:r>
          <a:r>
            <a:rPr lang="en-US" dirty="0" err="1"/>
            <a:t>formare</a:t>
          </a:r>
          <a:r>
            <a:rPr lang="en-US" dirty="0"/>
            <a:t> '</a:t>
          </a:r>
          <a:r>
            <a:rPr lang="en-US" dirty="0" err="1"/>
            <a:t>triangoli</a:t>
          </a:r>
          <a:r>
            <a:rPr lang="en-US" dirty="0"/>
            <a:t>' </a:t>
          </a:r>
          <a:r>
            <a:rPr lang="en-US" dirty="0" err="1"/>
            <a:t>sociali</a:t>
          </a:r>
          <a:r>
            <a:rPr lang="en-US" dirty="0"/>
            <a:t> </a:t>
          </a:r>
          <a:r>
            <a:rPr lang="en-US" dirty="0" err="1"/>
            <a:t>chiusi</a:t>
          </a:r>
          <a:r>
            <a:rPr lang="en-US" dirty="0"/>
            <a:t>.</a:t>
          </a:r>
        </a:p>
      </dgm:t>
    </dgm:pt>
    <dgm:pt modelId="{FB0910AF-2B91-47D3-96D9-394615433323}" type="parTrans" cxnId="{EFD0549E-E96A-4ED5-94DB-479588860877}">
      <dgm:prSet/>
      <dgm:spPr/>
      <dgm:t>
        <a:bodyPr/>
        <a:lstStyle/>
        <a:p>
          <a:endParaRPr lang="en-US"/>
        </a:p>
      </dgm:t>
    </dgm:pt>
    <dgm:pt modelId="{5938906A-C907-4C94-AAEA-463F8394A30F}" type="sibTrans" cxnId="{EFD0549E-E96A-4ED5-94DB-479588860877}">
      <dgm:prSet/>
      <dgm:spPr/>
      <dgm:t>
        <a:bodyPr/>
        <a:lstStyle/>
        <a:p>
          <a:endParaRPr lang="en-US"/>
        </a:p>
      </dgm:t>
    </dgm:pt>
    <dgm:pt modelId="{967F0D32-CCF7-46FC-B73A-55BB5140B331}" type="pres">
      <dgm:prSet presAssocID="{6B1F144C-4D29-40BB-889E-082BB4BB82FE}" presName="root" presStyleCnt="0">
        <dgm:presLayoutVars>
          <dgm:dir/>
          <dgm:resizeHandles val="exact"/>
        </dgm:presLayoutVars>
      </dgm:prSet>
      <dgm:spPr/>
    </dgm:pt>
    <dgm:pt modelId="{6173BCAD-1175-4B9E-82BA-F90716BCA0B8}" type="pres">
      <dgm:prSet presAssocID="{2436045A-DAE4-4ADB-B03D-2B8D597378F4}" presName="compNode" presStyleCnt="0"/>
      <dgm:spPr/>
    </dgm:pt>
    <dgm:pt modelId="{488FEB29-A5C6-4BA0-A80C-9F344CE5382A}" type="pres">
      <dgm:prSet presAssocID="{2436045A-DAE4-4ADB-B03D-2B8D597378F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A3924D7-E958-4C70-A12F-667689CA4C70}" type="pres">
      <dgm:prSet presAssocID="{2436045A-DAE4-4ADB-B03D-2B8D597378F4}" presName="spaceRect" presStyleCnt="0"/>
      <dgm:spPr/>
    </dgm:pt>
    <dgm:pt modelId="{5F3BED74-16D5-4510-9429-0D34A6572F79}" type="pres">
      <dgm:prSet presAssocID="{2436045A-DAE4-4ADB-B03D-2B8D597378F4}" presName="textRect" presStyleLbl="revTx" presStyleIdx="0" presStyleCnt="2">
        <dgm:presLayoutVars>
          <dgm:chMax val="1"/>
          <dgm:chPref val="1"/>
        </dgm:presLayoutVars>
      </dgm:prSet>
      <dgm:spPr/>
    </dgm:pt>
    <dgm:pt modelId="{215A26CB-8E39-4F4F-AC7E-01FB0FC62519}" type="pres">
      <dgm:prSet presAssocID="{42E59BF7-0A48-47D1-9C9C-A2271614206B}" presName="sibTrans" presStyleCnt="0"/>
      <dgm:spPr/>
    </dgm:pt>
    <dgm:pt modelId="{63D2A7AF-832E-45AC-9A11-179F3431D590}" type="pres">
      <dgm:prSet presAssocID="{0DBA296B-AF46-442F-8036-CF71B50AB7C8}" presName="compNode" presStyleCnt="0"/>
      <dgm:spPr/>
    </dgm:pt>
    <dgm:pt modelId="{F65F50E2-19F3-4C56-A6F0-06A254D6DA22}" type="pres">
      <dgm:prSet presAssocID="{0DBA296B-AF46-442F-8036-CF71B50AB7C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7B33F95F-D2B4-4FC1-A1CE-CB07E5FDCFEB}" type="pres">
      <dgm:prSet presAssocID="{0DBA296B-AF46-442F-8036-CF71B50AB7C8}" presName="spaceRect" presStyleCnt="0"/>
      <dgm:spPr/>
    </dgm:pt>
    <dgm:pt modelId="{BFC1A4B8-4BB7-40C9-BAE8-25D9FCC9A3FA}" type="pres">
      <dgm:prSet presAssocID="{0DBA296B-AF46-442F-8036-CF71B50AB7C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FD0549E-E96A-4ED5-94DB-479588860877}" srcId="{6B1F144C-4D29-40BB-889E-082BB4BB82FE}" destId="{0DBA296B-AF46-442F-8036-CF71B50AB7C8}" srcOrd="1" destOrd="0" parTransId="{FB0910AF-2B91-47D3-96D9-394615433323}" sibTransId="{5938906A-C907-4C94-AAEA-463F8394A30F}"/>
    <dgm:cxn modelId="{42C9E1AC-034C-4BCB-9003-18642377DC77}" type="presOf" srcId="{2436045A-DAE4-4ADB-B03D-2B8D597378F4}" destId="{5F3BED74-16D5-4510-9429-0D34A6572F79}" srcOrd="0" destOrd="0" presId="urn:microsoft.com/office/officeart/2018/2/layout/IconLabelList"/>
    <dgm:cxn modelId="{D033B0C1-2391-4CCE-B745-767CCCB873B4}" type="presOf" srcId="{6B1F144C-4D29-40BB-889E-082BB4BB82FE}" destId="{967F0D32-CCF7-46FC-B73A-55BB5140B331}" srcOrd="0" destOrd="0" presId="urn:microsoft.com/office/officeart/2018/2/layout/IconLabelList"/>
    <dgm:cxn modelId="{10F3FAD5-5C74-4E08-B34B-E57F47E9D417}" type="presOf" srcId="{0DBA296B-AF46-442F-8036-CF71B50AB7C8}" destId="{BFC1A4B8-4BB7-40C9-BAE8-25D9FCC9A3FA}" srcOrd="0" destOrd="0" presId="urn:microsoft.com/office/officeart/2018/2/layout/IconLabelList"/>
    <dgm:cxn modelId="{090018E2-EAA9-4BFD-BFFC-080AB8247614}" srcId="{6B1F144C-4D29-40BB-889E-082BB4BB82FE}" destId="{2436045A-DAE4-4ADB-B03D-2B8D597378F4}" srcOrd="0" destOrd="0" parTransId="{C03B57BB-54C0-40C4-8AF7-7C1FD0312DC5}" sibTransId="{42E59BF7-0A48-47D1-9C9C-A2271614206B}"/>
    <dgm:cxn modelId="{3A5A4DA9-7916-449C-B429-2E48EC60BC8C}" type="presParOf" srcId="{967F0D32-CCF7-46FC-B73A-55BB5140B331}" destId="{6173BCAD-1175-4B9E-82BA-F90716BCA0B8}" srcOrd="0" destOrd="0" presId="urn:microsoft.com/office/officeart/2018/2/layout/IconLabelList"/>
    <dgm:cxn modelId="{A3E57A79-ED84-4CA0-A026-525C71149697}" type="presParOf" srcId="{6173BCAD-1175-4B9E-82BA-F90716BCA0B8}" destId="{488FEB29-A5C6-4BA0-A80C-9F344CE5382A}" srcOrd="0" destOrd="0" presId="urn:microsoft.com/office/officeart/2018/2/layout/IconLabelList"/>
    <dgm:cxn modelId="{26C907B6-B936-4DA0-87C0-6060F0F813EF}" type="presParOf" srcId="{6173BCAD-1175-4B9E-82BA-F90716BCA0B8}" destId="{6A3924D7-E958-4C70-A12F-667689CA4C70}" srcOrd="1" destOrd="0" presId="urn:microsoft.com/office/officeart/2018/2/layout/IconLabelList"/>
    <dgm:cxn modelId="{CAC29CF7-927E-4D72-ABF8-76EAB20878CD}" type="presParOf" srcId="{6173BCAD-1175-4B9E-82BA-F90716BCA0B8}" destId="{5F3BED74-16D5-4510-9429-0D34A6572F79}" srcOrd="2" destOrd="0" presId="urn:microsoft.com/office/officeart/2018/2/layout/IconLabelList"/>
    <dgm:cxn modelId="{3CF8F4CC-8B0F-4743-A781-17DACC451489}" type="presParOf" srcId="{967F0D32-CCF7-46FC-B73A-55BB5140B331}" destId="{215A26CB-8E39-4F4F-AC7E-01FB0FC62519}" srcOrd="1" destOrd="0" presId="urn:microsoft.com/office/officeart/2018/2/layout/IconLabelList"/>
    <dgm:cxn modelId="{F314539B-F907-4C82-A51C-C063C5AD9A55}" type="presParOf" srcId="{967F0D32-CCF7-46FC-B73A-55BB5140B331}" destId="{63D2A7AF-832E-45AC-9A11-179F3431D590}" srcOrd="2" destOrd="0" presId="urn:microsoft.com/office/officeart/2018/2/layout/IconLabelList"/>
    <dgm:cxn modelId="{53C2E8FF-D659-49B9-ADFD-5D1728C26786}" type="presParOf" srcId="{63D2A7AF-832E-45AC-9A11-179F3431D590}" destId="{F65F50E2-19F3-4C56-A6F0-06A254D6DA22}" srcOrd="0" destOrd="0" presId="urn:microsoft.com/office/officeart/2018/2/layout/IconLabelList"/>
    <dgm:cxn modelId="{2AB413E2-955B-462C-A535-73411D38C2EF}" type="presParOf" srcId="{63D2A7AF-832E-45AC-9A11-179F3431D590}" destId="{7B33F95F-D2B4-4FC1-A1CE-CB07E5FDCFEB}" srcOrd="1" destOrd="0" presId="urn:microsoft.com/office/officeart/2018/2/layout/IconLabelList"/>
    <dgm:cxn modelId="{6AEB93E3-8B17-46EF-B058-7717917C02E0}" type="presParOf" srcId="{63D2A7AF-832E-45AC-9A11-179F3431D590}" destId="{BFC1A4B8-4BB7-40C9-BAE8-25D9FCC9A3F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3479074-8BE7-451D-B821-C3A57234137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29F76B0-FA1F-46CF-8984-A19CE1528C48}">
      <dgm:prSet/>
      <dgm:spPr/>
      <dgm:t>
        <a:bodyPr/>
        <a:lstStyle/>
        <a:p>
          <a:r>
            <a:rPr lang="en-US" dirty="0" err="1"/>
            <a:t>Analisi</a:t>
          </a:r>
          <a:r>
            <a:rPr lang="en-US" dirty="0"/>
            <a:t> delle </a:t>
          </a:r>
          <a:r>
            <a:rPr lang="en-US" dirty="0" err="1"/>
            <a:t>distanze</a:t>
          </a:r>
          <a:r>
            <a:rPr lang="en-US" dirty="0"/>
            <a:t> </a:t>
          </a:r>
          <a:r>
            <a:rPr lang="en-US" dirty="0" err="1"/>
            <a:t>sulla</a:t>
          </a:r>
          <a:r>
            <a:rPr lang="en-US" dirty="0"/>
            <a:t> </a:t>
          </a:r>
          <a:r>
            <a:rPr lang="en-US" b="1" dirty="0"/>
            <a:t>Giant Component </a:t>
          </a:r>
          <a:r>
            <a:rPr lang="en-US" dirty="0"/>
            <a:t>(</a:t>
          </a:r>
          <a:r>
            <a:rPr lang="en-IT" b="0" i="0" dirty="0"/>
            <a:t>30578</a:t>
          </a:r>
          <a:r>
            <a:rPr lang="en-US" dirty="0"/>
            <a:t> nodi)</a:t>
          </a:r>
        </a:p>
      </dgm:t>
    </dgm:pt>
    <dgm:pt modelId="{C4F58696-50C0-4B96-ABB0-ECD6D0CF3C57}" type="parTrans" cxnId="{74A2B782-1323-425A-B256-E84678E6AD37}">
      <dgm:prSet/>
      <dgm:spPr/>
      <dgm:t>
        <a:bodyPr/>
        <a:lstStyle/>
        <a:p>
          <a:endParaRPr lang="en-US"/>
        </a:p>
      </dgm:t>
    </dgm:pt>
    <dgm:pt modelId="{6F279CD8-AD1D-4A5A-BAFA-E1F3AE7323B6}" type="sibTrans" cxnId="{74A2B782-1323-425A-B256-E84678E6AD37}">
      <dgm:prSet/>
      <dgm:spPr/>
      <dgm:t>
        <a:bodyPr/>
        <a:lstStyle/>
        <a:p>
          <a:endParaRPr lang="en-US"/>
        </a:p>
      </dgm:t>
    </dgm:pt>
    <dgm:pt modelId="{690605BC-226B-4881-812F-FEDA6C2F02F8}">
      <dgm:prSet/>
      <dgm:spPr/>
      <dgm:t>
        <a:bodyPr/>
        <a:lstStyle/>
        <a:p>
          <a:r>
            <a:rPr lang="en-US" dirty="0"/>
            <a:t>Average Shortest Path: </a:t>
          </a:r>
          <a:r>
            <a:rPr lang="en-IT" b="0" i="0" dirty="0"/>
            <a:t>5.93</a:t>
          </a:r>
          <a:r>
            <a:rPr lang="en-US" dirty="0"/>
            <a:t> </a:t>
          </a:r>
        </a:p>
        <a:p>
          <a:r>
            <a:rPr lang="en-US" dirty="0" err="1"/>
            <a:t>Diametro</a:t>
          </a:r>
          <a:r>
            <a:rPr lang="en-US" dirty="0"/>
            <a:t> della rete: 20 </a:t>
          </a:r>
        </a:p>
      </dgm:t>
    </dgm:pt>
    <dgm:pt modelId="{BBB9F88C-7320-4369-88CF-5592F649F888}" type="parTrans" cxnId="{3AAB0CED-9A2E-44B8-8719-85B8CC6D2F8F}">
      <dgm:prSet/>
      <dgm:spPr/>
      <dgm:t>
        <a:bodyPr/>
        <a:lstStyle/>
        <a:p>
          <a:endParaRPr lang="en-US"/>
        </a:p>
      </dgm:t>
    </dgm:pt>
    <dgm:pt modelId="{042627FF-63AA-4503-804C-F55537C34E4B}" type="sibTrans" cxnId="{3AAB0CED-9A2E-44B8-8719-85B8CC6D2F8F}">
      <dgm:prSet/>
      <dgm:spPr/>
      <dgm:t>
        <a:bodyPr/>
        <a:lstStyle/>
        <a:p>
          <a:endParaRPr lang="en-US"/>
        </a:p>
      </dgm:t>
    </dgm:pt>
    <dgm:pt modelId="{4D560137-2347-433B-9C63-2F7252FEBC46}">
      <dgm:prSet/>
      <dgm:spPr/>
      <dgm:t>
        <a:bodyPr/>
        <a:lstStyle/>
        <a:p>
          <a:r>
            <a:rPr lang="en-US" dirty="0"/>
            <a:t>Il </a:t>
          </a:r>
          <a:r>
            <a:rPr lang="en-US" dirty="0" err="1"/>
            <a:t>Fenomeno</a:t>
          </a:r>
          <a:r>
            <a:rPr lang="en-US" dirty="0"/>
            <a:t> del ‘</a:t>
          </a:r>
          <a:r>
            <a:rPr lang="en-US" b="1" dirty="0"/>
            <a:t>Small world</a:t>
          </a:r>
          <a:r>
            <a:rPr lang="en-US" dirty="0"/>
            <a:t>’: </a:t>
          </a:r>
          <a:r>
            <a:rPr lang="en-US" dirty="0" err="1"/>
            <a:t>un'informazione</a:t>
          </a:r>
          <a:r>
            <a:rPr lang="en-US" dirty="0"/>
            <a:t> </a:t>
          </a:r>
          <a:r>
            <a:rPr lang="en-US" dirty="0" err="1"/>
            <a:t>impiega</a:t>
          </a:r>
          <a:r>
            <a:rPr lang="en-US" dirty="0"/>
            <a:t> </a:t>
          </a:r>
          <a:r>
            <a:rPr lang="en-US" dirty="0" err="1"/>
            <a:t>infatti</a:t>
          </a:r>
          <a:r>
            <a:rPr lang="en-US" dirty="0"/>
            <a:t> in media poco </a:t>
          </a:r>
          <a:r>
            <a:rPr lang="en-US" dirty="0" err="1"/>
            <a:t>più</a:t>
          </a:r>
          <a:r>
            <a:rPr lang="en-US" dirty="0"/>
            <a:t> di 6 </a:t>
          </a:r>
          <a:r>
            <a:rPr lang="en-US" dirty="0" err="1"/>
            <a:t>passaggi</a:t>
          </a:r>
          <a:r>
            <a:rPr lang="en-US" dirty="0"/>
            <a:t>  per </a:t>
          </a:r>
          <a:r>
            <a:rPr lang="en-US" dirty="0" err="1"/>
            <a:t>attraversare</a:t>
          </a:r>
          <a:r>
            <a:rPr lang="en-US" dirty="0"/>
            <a:t> </a:t>
          </a:r>
          <a:r>
            <a:rPr lang="en-US" dirty="0" err="1"/>
            <a:t>l'intera</a:t>
          </a:r>
          <a:r>
            <a:rPr lang="en-US" dirty="0"/>
            <a:t> </a:t>
          </a:r>
          <a:r>
            <a:rPr lang="en-US" dirty="0" err="1"/>
            <a:t>fazione</a:t>
          </a:r>
          <a:r>
            <a:rPr lang="en-US" dirty="0"/>
            <a:t> </a:t>
          </a:r>
          <a:r>
            <a:rPr lang="en-US" dirty="0" err="1"/>
            <a:t>ideologica</a:t>
          </a:r>
          <a:r>
            <a:rPr lang="en-US" dirty="0"/>
            <a:t>.</a:t>
          </a:r>
        </a:p>
      </dgm:t>
    </dgm:pt>
    <dgm:pt modelId="{8E643A3E-D4A3-4D26-8589-555DD9A7835D}" type="sibTrans" cxnId="{4C281B53-817A-4733-A4BF-750F964098A7}">
      <dgm:prSet/>
      <dgm:spPr/>
      <dgm:t>
        <a:bodyPr/>
        <a:lstStyle/>
        <a:p>
          <a:endParaRPr lang="en-US"/>
        </a:p>
      </dgm:t>
    </dgm:pt>
    <dgm:pt modelId="{65984EA2-4D12-4D27-8903-835B1C5B858F}" type="parTrans" cxnId="{4C281B53-817A-4733-A4BF-750F964098A7}">
      <dgm:prSet/>
      <dgm:spPr/>
      <dgm:t>
        <a:bodyPr/>
        <a:lstStyle/>
        <a:p>
          <a:endParaRPr lang="en-US"/>
        </a:p>
      </dgm:t>
    </dgm:pt>
    <dgm:pt modelId="{2A4CFF66-B7E8-AE47-8728-6B001FA527F7}" type="pres">
      <dgm:prSet presAssocID="{83479074-8BE7-451D-B821-C3A57234137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FDCF075-88DA-0148-87C2-F754698C68E2}" type="pres">
      <dgm:prSet presAssocID="{329F76B0-FA1F-46CF-8984-A19CE1528C48}" presName="hierRoot1" presStyleCnt="0"/>
      <dgm:spPr/>
    </dgm:pt>
    <dgm:pt modelId="{C07EDAD9-9D6F-074F-80FB-D60329C7A29D}" type="pres">
      <dgm:prSet presAssocID="{329F76B0-FA1F-46CF-8984-A19CE1528C48}" presName="composite" presStyleCnt="0"/>
      <dgm:spPr/>
    </dgm:pt>
    <dgm:pt modelId="{C6A8257E-41F1-4A4C-8E84-5D620E564A73}" type="pres">
      <dgm:prSet presAssocID="{329F76B0-FA1F-46CF-8984-A19CE1528C48}" presName="background" presStyleLbl="node0" presStyleIdx="0" presStyleCnt="3"/>
      <dgm:spPr/>
    </dgm:pt>
    <dgm:pt modelId="{70B57187-43D9-764D-B6A0-5968AF963B7F}" type="pres">
      <dgm:prSet presAssocID="{329F76B0-FA1F-46CF-8984-A19CE1528C48}" presName="text" presStyleLbl="fgAcc0" presStyleIdx="0" presStyleCnt="3">
        <dgm:presLayoutVars>
          <dgm:chPref val="3"/>
        </dgm:presLayoutVars>
      </dgm:prSet>
      <dgm:spPr/>
    </dgm:pt>
    <dgm:pt modelId="{1663DB05-5F91-E14C-9126-BAFD66068D90}" type="pres">
      <dgm:prSet presAssocID="{329F76B0-FA1F-46CF-8984-A19CE1528C48}" presName="hierChild2" presStyleCnt="0"/>
      <dgm:spPr/>
    </dgm:pt>
    <dgm:pt modelId="{0D8A0A8B-7268-1F44-9CC8-72495D096F14}" type="pres">
      <dgm:prSet presAssocID="{690605BC-226B-4881-812F-FEDA6C2F02F8}" presName="hierRoot1" presStyleCnt="0"/>
      <dgm:spPr/>
    </dgm:pt>
    <dgm:pt modelId="{281ECAE4-E764-7A48-AA48-11783EE457DF}" type="pres">
      <dgm:prSet presAssocID="{690605BC-226B-4881-812F-FEDA6C2F02F8}" presName="composite" presStyleCnt="0"/>
      <dgm:spPr/>
    </dgm:pt>
    <dgm:pt modelId="{30B6CF9E-B9AC-AC42-9AFA-8A9DDB1AE5BC}" type="pres">
      <dgm:prSet presAssocID="{690605BC-226B-4881-812F-FEDA6C2F02F8}" presName="background" presStyleLbl="node0" presStyleIdx="1" presStyleCnt="3"/>
      <dgm:spPr/>
    </dgm:pt>
    <dgm:pt modelId="{1157C6A7-E4E2-974D-984F-001CDB740777}" type="pres">
      <dgm:prSet presAssocID="{690605BC-226B-4881-812F-FEDA6C2F02F8}" presName="text" presStyleLbl="fgAcc0" presStyleIdx="1" presStyleCnt="3">
        <dgm:presLayoutVars>
          <dgm:chPref val="3"/>
        </dgm:presLayoutVars>
      </dgm:prSet>
      <dgm:spPr/>
    </dgm:pt>
    <dgm:pt modelId="{2C9B4A72-5F28-BB49-A581-4AFE9528428C}" type="pres">
      <dgm:prSet presAssocID="{690605BC-226B-4881-812F-FEDA6C2F02F8}" presName="hierChild2" presStyleCnt="0"/>
      <dgm:spPr/>
    </dgm:pt>
    <dgm:pt modelId="{BD0D1A40-16CA-044A-9BE1-31614390D76B}" type="pres">
      <dgm:prSet presAssocID="{4D560137-2347-433B-9C63-2F7252FEBC46}" presName="hierRoot1" presStyleCnt="0"/>
      <dgm:spPr/>
    </dgm:pt>
    <dgm:pt modelId="{0C434E02-AE83-1746-A82F-383484C85E93}" type="pres">
      <dgm:prSet presAssocID="{4D560137-2347-433B-9C63-2F7252FEBC46}" presName="composite" presStyleCnt="0"/>
      <dgm:spPr/>
    </dgm:pt>
    <dgm:pt modelId="{71C8E1A2-CD2B-E84C-9E9A-696F21880C0C}" type="pres">
      <dgm:prSet presAssocID="{4D560137-2347-433B-9C63-2F7252FEBC46}" presName="background" presStyleLbl="node0" presStyleIdx="2" presStyleCnt="3"/>
      <dgm:spPr/>
    </dgm:pt>
    <dgm:pt modelId="{E37CBE86-95BF-C248-BEDA-C65216BEC45E}" type="pres">
      <dgm:prSet presAssocID="{4D560137-2347-433B-9C63-2F7252FEBC46}" presName="text" presStyleLbl="fgAcc0" presStyleIdx="2" presStyleCnt="3">
        <dgm:presLayoutVars>
          <dgm:chPref val="3"/>
        </dgm:presLayoutVars>
      </dgm:prSet>
      <dgm:spPr/>
    </dgm:pt>
    <dgm:pt modelId="{A30FC8D6-9CD7-A544-92BD-57B5DC864F33}" type="pres">
      <dgm:prSet presAssocID="{4D560137-2347-433B-9C63-2F7252FEBC46}" presName="hierChild2" presStyleCnt="0"/>
      <dgm:spPr/>
    </dgm:pt>
  </dgm:ptLst>
  <dgm:cxnLst>
    <dgm:cxn modelId="{4C281B53-817A-4733-A4BF-750F964098A7}" srcId="{83479074-8BE7-451D-B821-C3A57234137B}" destId="{4D560137-2347-433B-9C63-2F7252FEBC46}" srcOrd="2" destOrd="0" parTransId="{65984EA2-4D12-4D27-8903-835B1C5B858F}" sibTransId="{8E643A3E-D4A3-4D26-8589-555DD9A7835D}"/>
    <dgm:cxn modelId="{F13B196A-BABB-DF4C-AD9B-A91FBA0E6AEB}" type="presOf" srcId="{4D560137-2347-433B-9C63-2F7252FEBC46}" destId="{E37CBE86-95BF-C248-BEDA-C65216BEC45E}" srcOrd="0" destOrd="0" presId="urn:microsoft.com/office/officeart/2005/8/layout/hierarchy1"/>
    <dgm:cxn modelId="{74A2B782-1323-425A-B256-E84678E6AD37}" srcId="{83479074-8BE7-451D-B821-C3A57234137B}" destId="{329F76B0-FA1F-46CF-8984-A19CE1528C48}" srcOrd="0" destOrd="0" parTransId="{C4F58696-50C0-4B96-ABB0-ECD6D0CF3C57}" sibTransId="{6F279CD8-AD1D-4A5A-BAFA-E1F3AE7323B6}"/>
    <dgm:cxn modelId="{A013DB84-19E1-8E49-B589-E41D42E7C438}" type="presOf" srcId="{329F76B0-FA1F-46CF-8984-A19CE1528C48}" destId="{70B57187-43D9-764D-B6A0-5968AF963B7F}" srcOrd="0" destOrd="0" presId="urn:microsoft.com/office/officeart/2005/8/layout/hierarchy1"/>
    <dgm:cxn modelId="{2C40F299-4FAD-7F4F-A267-8D9FEFA32BF3}" type="presOf" srcId="{690605BC-226B-4881-812F-FEDA6C2F02F8}" destId="{1157C6A7-E4E2-974D-984F-001CDB740777}" srcOrd="0" destOrd="0" presId="urn:microsoft.com/office/officeart/2005/8/layout/hierarchy1"/>
    <dgm:cxn modelId="{3AAB0CED-9A2E-44B8-8719-85B8CC6D2F8F}" srcId="{83479074-8BE7-451D-B821-C3A57234137B}" destId="{690605BC-226B-4881-812F-FEDA6C2F02F8}" srcOrd="1" destOrd="0" parTransId="{BBB9F88C-7320-4369-88CF-5592F649F888}" sibTransId="{042627FF-63AA-4503-804C-F55537C34E4B}"/>
    <dgm:cxn modelId="{045FBAF2-D878-6842-8679-E95009266A6B}" type="presOf" srcId="{83479074-8BE7-451D-B821-C3A57234137B}" destId="{2A4CFF66-B7E8-AE47-8728-6B001FA527F7}" srcOrd="0" destOrd="0" presId="urn:microsoft.com/office/officeart/2005/8/layout/hierarchy1"/>
    <dgm:cxn modelId="{7A0FB119-6530-6749-B21F-880D4A4B28FF}" type="presParOf" srcId="{2A4CFF66-B7E8-AE47-8728-6B001FA527F7}" destId="{EFDCF075-88DA-0148-87C2-F754698C68E2}" srcOrd="0" destOrd="0" presId="urn:microsoft.com/office/officeart/2005/8/layout/hierarchy1"/>
    <dgm:cxn modelId="{537A40B0-9CC7-F046-B6A3-FC6856BE51C6}" type="presParOf" srcId="{EFDCF075-88DA-0148-87C2-F754698C68E2}" destId="{C07EDAD9-9D6F-074F-80FB-D60329C7A29D}" srcOrd="0" destOrd="0" presId="urn:microsoft.com/office/officeart/2005/8/layout/hierarchy1"/>
    <dgm:cxn modelId="{A352156D-3B39-374A-BB62-E6724A7BF512}" type="presParOf" srcId="{C07EDAD9-9D6F-074F-80FB-D60329C7A29D}" destId="{C6A8257E-41F1-4A4C-8E84-5D620E564A73}" srcOrd="0" destOrd="0" presId="urn:microsoft.com/office/officeart/2005/8/layout/hierarchy1"/>
    <dgm:cxn modelId="{58DAE33F-FF47-1D4E-A119-E7E7A2DB4E31}" type="presParOf" srcId="{C07EDAD9-9D6F-074F-80FB-D60329C7A29D}" destId="{70B57187-43D9-764D-B6A0-5968AF963B7F}" srcOrd="1" destOrd="0" presId="urn:microsoft.com/office/officeart/2005/8/layout/hierarchy1"/>
    <dgm:cxn modelId="{AE7C4987-B0FB-A244-B18C-5FFAC34A6298}" type="presParOf" srcId="{EFDCF075-88DA-0148-87C2-F754698C68E2}" destId="{1663DB05-5F91-E14C-9126-BAFD66068D90}" srcOrd="1" destOrd="0" presId="urn:microsoft.com/office/officeart/2005/8/layout/hierarchy1"/>
    <dgm:cxn modelId="{BBA0D7F4-AD8D-5745-965E-1F71B00E98F1}" type="presParOf" srcId="{2A4CFF66-B7E8-AE47-8728-6B001FA527F7}" destId="{0D8A0A8B-7268-1F44-9CC8-72495D096F14}" srcOrd="1" destOrd="0" presId="urn:microsoft.com/office/officeart/2005/8/layout/hierarchy1"/>
    <dgm:cxn modelId="{EB6EC01B-DA77-E741-AFF8-761DC6BB1A00}" type="presParOf" srcId="{0D8A0A8B-7268-1F44-9CC8-72495D096F14}" destId="{281ECAE4-E764-7A48-AA48-11783EE457DF}" srcOrd="0" destOrd="0" presId="urn:microsoft.com/office/officeart/2005/8/layout/hierarchy1"/>
    <dgm:cxn modelId="{55574B6F-186B-1D4A-9270-08E9369A3298}" type="presParOf" srcId="{281ECAE4-E764-7A48-AA48-11783EE457DF}" destId="{30B6CF9E-B9AC-AC42-9AFA-8A9DDB1AE5BC}" srcOrd="0" destOrd="0" presId="urn:microsoft.com/office/officeart/2005/8/layout/hierarchy1"/>
    <dgm:cxn modelId="{6004CE13-911D-CB47-803F-418577D3403F}" type="presParOf" srcId="{281ECAE4-E764-7A48-AA48-11783EE457DF}" destId="{1157C6A7-E4E2-974D-984F-001CDB740777}" srcOrd="1" destOrd="0" presId="urn:microsoft.com/office/officeart/2005/8/layout/hierarchy1"/>
    <dgm:cxn modelId="{ACBA562C-655C-D346-BE49-4B9A7F73033F}" type="presParOf" srcId="{0D8A0A8B-7268-1F44-9CC8-72495D096F14}" destId="{2C9B4A72-5F28-BB49-A581-4AFE9528428C}" srcOrd="1" destOrd="0" presId="urn:microsoft.com/office/officeart/2005/8/layout/hierarchy1"/>
    <dgm:cxn modelId="{A04CF40B-0503-6941-BBC8-C337C6228376}" type="presParOf" srcId="{2A4CFF66-B7E8-AE47-8728-6B001FA527F7}" destId="{BD0D1A40-16CA-044A-9BE1-31614390D76B}" srcOrd="2" destOrd="0" presId="urn:microsoft.com/office/officeart/2005/8/layout/hierarchy1"/>
    <dgm:cxn modelId="{93A2F7A5-7398-114E-8F32-DBFFC8BD2AA5}" type="presParOf" srcId="{BD0D1A40-16CA-044A-9BE1-31614390D76B}" destId="{0C434E02-AE83-1746-A82F-383484C85E93}" srcOrd="0" destOrd="0" presId="urn:microsoft.com/office/officeart/2005/8/layout/hierarchy1"/>
    <dgm:cxn modelId="{342A8EBD-0725-AF4B-93FE-15C39C0B2F29}" type="presParOf" srcId="{0C434E02-AE83-1746-A82F-383484C85E93}" destId="{71C8E1A2-CD2B-E84C-9E9A-696F21880C0C}" srcOrd="0" destOrd="0" presId="urn:microsoft.com/office/officeart/2005/8/layout/hierarchy1"/>
    <dgm:cxn modelId="{3028335D-906C-D948-80BC-C032D61D7715}" type="presParOf" srcId="{0C434E02-AE83-1746-A82F-383484C85E93}" destId="{E37CBE86-95BF-C248-BEDA-C65216BEC45E}" srcOrd="1" destOrd="0" presId="urn:microsoft.com/office/officeart/2005/8/layout/hierarchy1"/>
    <dgm:cxn modelId="{60BC7962-3A6D-F74A-B98C-3C5819DCA873}" type="presParOf" srcId="{BD0D1A40-16CA-044A-9BE1-31614390D76B}" destId="{A30FC8D6-9CD7-A544-92BD-57B5DC864F3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1CB69BA-23EC-47B3-B017-5B17E509040B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A6AEAB-6DC7-4950-9050-6D200BC4317A}">
      <dgm:prSet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/>
            <a:t>Da un lato, abbiamo una </a:t>
          </a:r>
          <a:r>
            <a:rPr lang="en-US" b="1"/>
            <a:t>Modularità strutturale estrema (0.81)</a:t>
          </a:r>
          <a:r>
            <a:rPr lang="en-US"/>
            <a:t>: la rete è fisicamente frammentata. Dall'altro lato, abbiamo una </a:t>
          </a:r>
          <a:r>
            <a:rPr lang="en-US" b="1"/>
            <a:t>Polarizzazione ideologica netta (0.50)</a:t>
          </a:r>
          <a:r>
            <a:rPr lang="en-US"/>
            <a:t> e un livello di tossicità altissimo.</a:t>
          </a:r>
        </a:p>
      </dgm:t>
    </dgm:pt>
    <dgm:pt modelId="{7F95FC55-2894-4551-86E6-0A5989A6F4D9}" type="parTrans" cxnId="{D7382BDB-44DF-433F-B0C9-B4CA57CC4B94}">
      <dgm:prSet/>
      <dgm:spPr/>
      <dgm:t>
        <a:bodyPr/>
        <a:lstStyle/>
        <a:p>
          <a:endParaRPr lang="en-US"/>
        </a:p>
      </dgm:t>
    </dgm:pt>
    <dgm:pt modelId="{C4B02537-4A22-4ECB-9DB7-8BDFF9F57793}" type="sibTrans" cxnId="{D7382BDB-44DF-433F-B0C9-B4CA57CC4B94}">
      <dgm:prSet/>
      <dgm:spPr/>
      <dgm:t>
        <a:bodyPr/>
        <a:lstStyle/>
        <a:p>
          <a:endParaRPr lang="en-US"/>
        </a:p>
      </dgm:t>
    </dgm:pt>
    <dgm:pt modelId="{DD544145-A0B2-4DDE-8419-22A705564E7C}">
      <dgm:prSet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/>
            <a:t>La </a:t>
          </a:r>
          <a:r>
            <a:rPr lang="en-US" dirty="0" err="1"/>
            <a:t>risposta</a:t>
          </a:r>
          <a:r>
            <a:rPr lang="en-US" dirty="0"/>
            <a:t> </a:t>
          </a:r>
          <a:r>
            <a:rPr lang="en-US" dirty="0" err="1"/>
            <a:t>è</a:t>
          </a:r>
          <a:r>
            <a:rPr lang="en-US" dirty="0"/>
            <a:t> </a:t>
          </a:r>
          <a:r>
            <a:rPr lang="en-US" dirty="0" err="1"/>
            <a:t>che</a:t>
          </a:r>
          <a:r>
            <a:rPr lang="en-US" dirty="0"/>
            <a:t> la </a:t>
          </a:r>
          <a:r>
            <a:rPr lang="en-US" dirty="0" err="1"/>
            <a:t>polarizzazione</a:t>
          </a:r>
          <a:r>
            <a:rPr lang="en-US" dirty="0"/>
            <a:t> </a:t>
          </a:r>
          <a:r>
            <a:rPr lang="en-US" dirty="0" err="1"/>
            <a:t>odierna</a:t>
          </a:r>
          <a:r>
            <a:rPr lang="en-US" dirty="0"/>
            <a:t> non </a:t>
          </a:r>
          <a:r>
            <a:rPr lang="en-US" dirty="0" err="1"/>
            <a:t>si</a:t>
          </a:r>
          <a:r>
            <a:rPr lang="en-US" dirty="0"/>
            <a:t> </a:t>
          </a:r>
          <a:r>
            <a:rPr lang="en-US" dirty="0" err="1"/>
            <a:t>basa</a:t>
          </a:r>
          <a:r>
            <a:rPr lang="en-US" dirty="0"/>
            <a:t> </a:t>
          </a:r>
          <a:r>
            <a:rPr lang="en-US" dirty="0" err="1"/>
            <a:t>sul</a:t>
          </a:r>
          <a:r>
            <a:rPr lang="en-US" dirty="0"/>
            <a:t> </a:t>
          </a:r>
          <a:r>
            <a:rPr lang="en-US" dirty="0" err="1"/>
            <a:t>confronto</a:t>
          </a:r>
          <a:r>
            <a:rPr lang="en-US" dirty="0"/>
            <a:t> </a:t>
          </a:r>
          <a:r>
            <a:rPr lang="en-US" dirty="0" err="1"/>
            <a:t>diretto</a:t>
          </a:r>
          <a:r>
            <a:rPr lang="en-US" dirty="0"/>
            <a:t>, ma </a:t>
          </a:r>
          <a:r>
            <a:rPr lang="en-US" dirty="0" err="1"/>
            <a:t>sull'</a:t>
          </a:r>
          <a:r>
            <a:rPr lang="en-US" b="1" dirty="0" err="1"/>
            <a:t>Out</a:t>
          </a:r>
          <a:r>
            <a:rPr lang="en-US" b="1" dirty="0"/>
            <a:t>-group derogation</a:t>
          </a:r>
          <a:r>
            <a:rPr lang="en-US" dirty="0"/>
            <a:t>. I </a:t>
          </a:r>
          <a:r>
            <a:rPr lang="en-US" dirty="0" err="1"/>
            <a:t>modelli</a:t>
          </a:r>
          <a:r>
            <a:rPr lang="en-US" dirty="0"/>
            <a:t> di </a:t>
          </a:r>
          <a:r>
            <a:rPr lang="en-US" dirty="0" err="1"/>
            <a:t>Intelligenza</a:t>
          </a:r>
          <a:r>
            <a:rPr lang="en-US" dirty="0"/>
            <a:t> </a:t>
          </a:r>
          <a:r>
            <a:rPr lang="en-US" dirty="0" err="1"/>
            <a:t>Artificiale</a:t>
          </a:r>
          <a:r>
            <a:rPr lang="en-US" dirty="0"/>
            <a:t> </a:t>
          </a:r>
          <a:r>
            <a:rPr lang="en-US" dirty="0" err="1"/>
            <a:t>rilevano</a:t>
          </a:r>
          <a:r>
            <a:rPr lang="en-US" dirty="0"/>
            <a:t> un </a:t>
          </a:r>
          <a:r>
            <a:rPr lang="en-US" dirty="0" err="1"/>
            <a:t>linguaggio</a:t>
          </a:r>
          <a:r>
            <a:rPr lang="en-US" dirty="0"/>
            <a:t> </a:t>
          </a:r>
          <a:r>
            <a:rPr lang="en-US" dirty="0" err="1"/>
            <a:t>violento</a:t>
          </a:r>
          <a:r>
            <a:rPr lang="en-US" dirty="0"/>
            <a:t> non </a:t>
          </a:r>
          <a:r>
            <a:rPr lang="en-US" dirty="0" err="1"/>
            <a:t>perché</a:t>
          </a:r>
          <a:r>
            <a:rPr lang="en-US" dirty="0"/>
            <a:t> le </a:t>
          </a:r>
          <a:r>
            <a:rPr lang="en-US" dirty="0" err="1"/>
            <a:t>fazioni</a:t>
          </a:r>
          <a:r>
            <a:rPr lang="en-US" dirty="0"/>
            <a:t> </a:t>
          </a:r>
          <a:r>
            <a:rPr lang="en-US" dirty="0" err="1"/>
            <a:t>stiano</a:t>
          </a:r>
          <a:r>
            <a:rPr lang="en-US" dirty="0"/>
            <a:t> </a:t>
          </a:r>
          <a:r>
            <a:rPr lang="en-US" dirty="0" err="1"/>
            <a:t>dialogando</a:t>
          </a:r>
          <a:r>
            <a:rPr lang="en-US" dirty="0"/>
            <a:t> </a:t>
          </a:r>
          <a:r>
            <a:rPr lang="en-US" dirty="0" err="1"/>
            <a:t>tra</a:t>
          </a:r>
          <a:r>
            <a:rPr lang="en-US" dirty="0"/>
            <a:t> loro, ma </a:t>
          </a:r>
          <a:r>
            <a:rPr lang="en-US" dirty="0" err="1"/>
            <a:t>perché</a:t>
          </a:r>
          <a:r>
            <a:rPr lang="en-US" dirty="0"/>
            <a:t> </a:t>
          </a:r>
          <a:r>
            <a:rPr lang="en-US" dirty="0" err="1"/>
            <a:t>usano</a:t>
          </a:r>
          <a:r>
            <a:rPr lang="en-US" dirty="0"/>
            <a:t> </a:t>
          </a:r>
          <a:r>
            <a:rPr lang="en-US" dirty="0" err="1"/>
            <a:t>i</a:t>
          </a:r>
          <a:r>
            <a:rPr lang="en-US" dirty="0"/>
            <a:t> </a:t>
          </a:r>
          <a:r>
            <a:rPr lang="en-US" dirty="0" err="1"/>
            <a:t>propri</a:t>
          </a:r>
          <a:r>
            <a:rPr lang="en-US" dirty="0"/>
            <a:t> </a:t>
          </a:r>
          <a:r>
            <a:rPr lang="en-US" dirty="0" err="1"/>
            <a:t>spazi</a:t>
          </a:r>
          <a:r>
            <a:rPr lang="en-US" dirty="0"/>
            <a:t> </a:t>
          </a:r>
          <a:r>
            <a:rPr lang="en-US" dirty="0" err="1"/>
            <a:t>isolati</a:t>
          </a:r>
          <a:r>
            <a:rPr lang="en-US" dirty="0"/>
            <a:t> per </a:t>
          </a:r>
          <a:r>
            <a:rPr lang="en-US" dirty="0" err="1"/>
            <a:t>deridere</a:t>
          </a:r>
          <a:r>
            <a:rPr lang="en-US" dirty="0"/>
            <a:t> e </a:t>
          </a:r>
          <a:r>
            <a:rPr lang="en-US" dirty="0" err="1"/>
            <a:t>delegittimare</a:t>
          </a:r>
          <a:r>
            <a:rPr lang="en-US" dirty="0"/>
            <a:t> </a:t>
          </a:r>
          <a:r>
            <a:rPr lang="en-US" dirty="0" err="1"/>
            <a:t>l'avversario</a:t>
          </a:r>
          <a:r>
            <a:rPr lang="en-US" dirty="0"/>
            <a:t> </a:t>
          </a:r>
          <a:r>
            <a:rPr lang="en-US" dirty="0" err="1"/>
            <a:t>assente</a:t>
          </a:r>
          <a:r>
            <a:rPr lang="en-US" dirty="0"/>
            <a:t>, </a:t>
          </a:r>
          <a:r>
            <a:rPr lang="en-US" dirty="0" err="1"/>
            <a:t>utilizzando</a:t>
          </a:r>
          <a:r>
            <a:rPr lang="en-US" dirty="0"/>
            <a:t> '</a:t>
          </a:r>
          <a:r>
            <a:rPr lang="en-US" dirty="0" err="1"/>
            <a:t>vocabolari</a:t>
          </a:r>
          <a:r>
            <a:rPr lang="en-US" dirty="0"/>
            <a:t> </a:t>
          </a:r>
          <a:r>
            <a:rPr lang="en-US" dirty="0" err="1"/>
            <a:t>identitari</a:t>
          </a:r>
          <a:r>
            <a:rPr lang="en-US" dirty="0"/>
            <a:t>' </a:t>
          </a:r>
          <a:r>
            <a:rPr lang="en-US" dirty="0" err="1"/>
            <a:t>totalmente</a:t>
          </a:r>
          <a:r>
            <a:rPr lang="en-US" dirty="0"/>
            <a:t> </a:t>
          </a:r>
          <a:r>
            <a:rPr lang="en-US" dirty="0" err="1"/>
            <a:t>incompatibili</a:t>
          </a:r>
          <a:r>
            <a:rPr lang="en-US" dirty="0"/>
            <a:t>.</a:t>
          </a:r>
        </a:p>
      </dgm:t>
    </dgm:pt>
    <dgm:pt modelId="{C575878E-C52A-4A3F-8205-1C745C6B6C09}" type="parTrans" cxnId="{DAB80622-FBC1-4CAC-A30A-8F467F818B14}">
      <dgm:prSet/>
      <dgm:spPr/>
      <dgm:t>
        <a:bodyPr/>
        <a:lstStyle/>
        <a:p>
          <a:endParaRPr lang="en-US"/>
        </a:p>
      </dgm:t>
    </dgm:pt>
    <dgm:pt modelId="{77A2DF78-AB3F-4392-A965-C3B389B44EE1}" type="sibTrans" cxnId="{DAB80622-FBC1-4CAC-A30A-8F467F818B14}">
      <dgm:prSet/>
      <dgm:spPr/>
      <dgm:t>
        <a:bodyPr/>
        <a:lstStyle/>
        <a:p>
          <a:endParaRPr lang="en-US"/>
        </a:p>
      </dgm:t>
    </dgm:pt>
    <dgm:pt modelId="{38E73E78-0EFD-1744-B4DF-EC7AD7370881}" type="pres">
      <dgm:prSet presAssocID="{41CB69BA-23EC-47B3-B017-5B17E509040B}" presName="diagram" presStyleCnt="0">
        <dgm:presLayoutVars>
          <dgm:dir/>
          <dgm:resizeHandles val="exact"/>
        </dgm:presLayoutVars>
      </dgm:prSet>
      <dgm:spPr/>
    </dgm:pt>
    <dgm:pt modelId="{082A25C9-4B98-4B4E-BD58-3060BC759476}" type="pres">
      <dgm:prSet presAssocID="{81A6AEAB-6DC7-4950-9050-6D200BC4317A}" presName="node" presStyleLbl="node1" presStyleIdx="0" presStyleCnt="2">
        <dgm:presLayoutVars>
          <dgm:bulletEnabled val="1"/>
        </dgm:presLayoutVars>
      </dgm:prSet>
      <dgm:spPr/>
    </dgm:pt>
    <dgm:pt modelId="{3B7CAE79-1155-934C-A8E2-27AD2CD1ED4E}" type="pres">
      <dgm:prSet presAssocID="{C4B02537-4A22-4ECB-9DB7-8BDFF9F57793}" presName="sibTrans" presStyleCnt="0"/>
      <dgm:spPr/>
    </dgm:pt>
    <dgm:pt modelId="{AA6DBE7D-4683-A045-B328-38E1BADB9E95}" type="pres">
      <dgm:prSet presAssocID="{DD544145-A0B2-4DDE-8419-22A705564E7C}" presName="node" presStyleLbl="node1" presStyleIdx="1" presStyleCnt="2">
        <dgm:presLayoutVars>
          <dgm:bulletEnabled val="1"/>
        </dgm:presLayoutVars>
      </dgm:prSet>
      <dgm:spPr/>
    </dgm:pt>
  </dgm:ptLst>
  <dgm:cxnLst>
    <dgm:cxn modelId="{DAB80622-FBC1-4CAC-A30A-8F467F818B14}" srcId="{41CB69BA-23EC-47B3-B017-5B17E509040B}" destId="{DD544145-A0B2-4DDE-8419-22A705564E7C}" srcOrd="1" destOrd="0" parTransId="{C575878E-C52A-4A3F-8205-1C745C6B6C09}" sibTransId="{77A2DF78-AB3F-4392-A965-C3B389B44EE1}"/>
    <dgm:cxn modelId="{C8D0C44C-19C3-224D-B103-253C84BF693D}" type="presOf" srcId="{81A6AEAB-6DC7-4950-9050-6D200BC4317A}" destId="{082A25C9-4B98-4B4E-BD58-3060BC759476}" srcOrd="0" destOrd="0" presId="urn:microsoft.com/office/officeart/2005/8/layout/default"/>
    <dgm:cxn modelId="{5CAAFDBB-ABB0-C149-8418-A83A549B33C1}" type="presOf" srcId="{DD544145-A0B2-4DDE-8419-22A705564E7C}" destId="{AA6DBE7D-4683-A045-B328-38E1BADB9E95}" srcOrd="0" destOrd="0" presId="urn:microsoft.com/office/officeart/2005/8/layout/default"/>
    <dgm:cxn modelId="{E93BB0CD-750D-9A45-898E-4884A4527911}" type="presOf" srcId="{41CB69BA-23EC-47B3-B017-5B17E509040B}" destId="{38E73E78-0EFD-1744-B4DF-EC7AD7370881}" srcOrd="0" destOrd="0" presId="urn:microsoft.com/office/officeart/2005/8/layout/default"/>
    <dgm:cxn modelId="{D7382BDB-44DF-433F-B0C9-B4CA57CC4B94}" srcId="{41CB69BA-23EC-47B3-B017-5B17E509040B}" destId="{81A6AEAB-6DC7-4950-9050-6D200BC4317A}" srcOrd="0" destOrd="0" parTransId="{7F95FC55-2894-4551-86E6-0A5989A6F4D9}" sibTransId="{C4B02537-4A22-4ECB-9DB7-8BDFF9F57793}"/>
    <dgm:cxn modelId="{19E30B0B-050E-F849-B9D6-032412B625A4}" type="presParOf" srcId="{38E73E78-0EFD-1744-B4DF-EC7AD7370881}" destId="{082A25C9-4B98-4B4E-BD58-3060BC759476}" srcOrd="0" destOrd="0" presId="urn:microsoft.com/office/officeart/2005/8/layout/default"/>
    <dgm:cxn modelId="{533E3D81-6118-6844-A3E6-97762A500ED0}" type="presParOf" srcId="{38E73E78-0EFD-1744-B4DF-EC7AD7370881}" destId="{3B7CAE79-1155-934C-A8E2-27AD2CD1ED4E}" srcOrd="1" destOrd="0" presId="urn:microsoft.com/office/officeart/2005/8/layout/default"/>
    <dgm:cxn modelId="{E2DB7569-6EB9-B24A-B941-D2F5AC6D2116}" type="presParOf" srcId="{38E73E78-0EFD-1744-B4DF-EC7AD7370881}" destId="{AA6DBE7D-4683-A045-B328-38E1BADB9E9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C1C0440-1B53-4D91-91A3-E653B83B1FE1}" type="doc">
      <dgm:prSet loTypeId="urn:microsoft.com/office/officeart/2005/8/layout/process1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EA8295E6-C105-4233-88E8-169E0A11FF88}">
      <dgm:prSet/>
      <dgm:spPr/>
      <dgm:t>
        <a:bodyPr/>
        <a:lstStyle/>
        <a:p>
          <a:r>
            <a:rPr lang="en-US"/>
            <a:t>Alla luce dei limiti fisiologici degli attuali algoritmi, le direzioni future della ricerca puntano a un'IA più sofisticata:</a:t>
          </a:r>
        </a:p>
      </dgm:t>
    </dgm:pt>
    <dgm:pt modelId="{6A10AB74-C4B2-4073-8FF0-FC4E65F4E604}" type="parTrans" cxnId="{3222EAC1-7E2A-48CD-8F76-B56FF51B5004}">
      <dgm:prSet/>
      <dgm:spPr/>
      <dgm:t>
        <a:bodyPr/>
        <a:lstStyle/>
        <a:p>
          <a:endParaRPr lang="en-US"/>
        </a:p>
      </dgm:t>
    </dgm:pt>
    <dgm:pt modelId="{099660E3-69B0-420C-B8A9-3F7B73BDB8CC}" type="sibTrans" cxnId="{3222EAC1-7E2A-48CD-8F76-B56FF51B5004}">
      <dgm:prSet/>
      <dgm:spPr/>
      <dgm:t>
        <a:bodyPr/>
        <a:lstStyle/>
        <a:p>
          <a:endParaRPr lang="en-US"/>
        </a:p>
      </dgm:t>
    </dgm:pt>
    <dgm:pt modelId="{761F1FB0-0530-4E40-A7A5-1879F5888769}">
      <dgm:prSet/>
      <dgm:spPr/>
      <dgm:t>
        <a:bodyPr/>
        <a:lstStyle/>
        <a:p>
          <a:r>
            <a:rPr lang="en-US" b="1" dirty="0" err="1"/>
            <a:t>Modelli</a:t>
          </a:r>
          <a:r>
            <a:rPr lang="en-US" b="1" dirty="0"/>
            <a:t> </a:t>
          </a:r>
          <a:r>
            <a:rPr lang="en-US" b="1" i="1" dirty="0"/>
            <a:t>Context-Aware</a:t>
          </a:r>
          <a:r>
            <a:rPr lang="en-US" b="1" dirty="0"/>
            <a:t> (</a:t>
          </a:r>
          <a:r>
            <a:rPr lang="en-US" b="1" dirty="0" err="1"/>
            <a:t>Topologici</a:t>
          </a:r>
          <a:r>
            <a:rPr lang="en-US" b="1" dirty="0"/>
            <a:t>):</a:t>
          </a:r>
          <a:r>
            <a:rPr lang="en-US" dirty="0"/>
            <a:t> </a:t>
          </a:r>
          <a:r>
            <a:rPr lang="en-US" dirty="0" err="1"/>
            <a:t>Integrare</a:t>
          </a:r>
          <a:r>
            <a:rPr lang="en-US" dirty="0"/>
            <a:t> la </a:t>
          </a:r>
          <a:r>
            <a:rPr lang="en-US" dirty="0" err="1"/>
            <a:t>struttura</a:t>
          </a:r>
          <a:r>
            <a:rPr lang="en-US" dirty="0"/>
            <a:t> della rete </a:t>
          </a:r>
          <a:r>
            <a:rPr lang="en-US" dirty="0" err="1"/>
            <a:t>nell'analisi</a:t>
          </a:r>
          <a:r>
            <a:rPr lang="en-US" dirty="0"/>
            <a:t> </a:t>
          </a:r>
          <a:r>
            <a:rPr lang="en-US" dirty="0" err="1"/>
            <a:t>linguistica</a:t>
          </a:r>
          <a:r>
            <a:rPr lang="en-US" dirty="0"/>
            <a:t>. L'IA </a:t>
          </a:r>
          <a:r>
            <a:rPr lang="en-US" dirty="0" err="1"/>
            <a:t>deve</a:t>
          </a:r>
          <a:r>
            <a:rPr lang="en-US" dirty="0"/>
            <a:t> </a:t>
          </a:r>
          <a:r>
            <a:rPr lang="en-US" dirty="0" err="1"/>
            <a:t>capire</a:t>
          </a:r>
          <a:r>
            <a:rPr lang="en-US" dirty="0"/>
            <a:t> il </a:t>
          </a:r>
          <a:r>
            <a:rPr lang="en-US" dirty="0" err="1"/>
            <a:t>contesto</a:t>
          </a:r>
          <a:r>
            <a:rPr lang="en-US" dirty="0"/>
            <a:t> </a:t>
          </a:r>
          <a:r>
            <a:rPr lang="en-US" dirty="0" err="1"/>
            <a:t>sociale</a:t>
          </a:r>
          <a:r>
            <a:rPr lang="en-US" dirty="0"/>
            <a:t> per </a:t>
          </a:r>
          <a:r>
            <a:rPr lang="en-US" dirty="0" err="1"/>
            <a:t>distinguere</a:t>
          </a:r>
          <a:r>
            <a:rPr lang="en-US" dirty="0"/>
            <a:t> un </a:t>
          </a:r>
          <a:r>
            <a:rPr lang="en-US" dirty="0" err="1"/>
            <a:t>attacco</a:t>
          </a:r>
          <a:r>
            <a:rPr lang="en-US" dirty="0"/>
            <a:t> </a:t>
          </a:r>
          <a:r>
            <a:rPr lang="en-US" dirty="0" err="1"/>
            <a:t>diretto</a:t>
          </a:r>
          <a:r>
            <a:rPr lang="en-US" dirty="0"/>
            <a:t> (verso </a:t>
          </a:r>
          <a:r>
            <a:rPr lang="en-US" dirty="0" err="1"/>
            <a:t>l'esterno</a:t>
          </a:r>
          <a:r>
            <a:rPr lang="en-US" dirty="0"/>
            <a:t>) </a:t>
          </a:r>
          <a:r>
            <a:rPr lang="en-US" dirty="0" err="1"/>
            <a:t>dall</a:t>
          </a:r>
          <a:r>
            <a:rPr lang="en-US" dirty="0"/>
            <a:t>'"</a:t>
          </a:r>
          <a:r>
            <a:rPr lang="en-US" dirty="0" err="1"/>
            <a:t>odio</a:t>
          </a:r>
          <a:r>
            <a:rPr lang="en-US" dirty="0"/>
            <a:t> </a:t>
          </a:r>
          <a:r>
            <a:rPr lang="en-US" dirty="0" err="1"/>
            <a:t>condiviso</a:t>
          </a:r>
          <a:r>
            <a:rPr lang="en-US" dirty="0"/>
            <a:t>" </a:t>
          </a:r>
          <a:r>
            <a:rPr lang="en-US" dirty="0" err="1"/>
            <a:t>usato</a:t>
          </a:r>
          <a:r>
            <a:rPr lang="en-US" dirty="0"/>
            <a:t> per </a:t>
          </a:r>
          <a:r>
            <a:rPr lang="en-US" dirty="0" err="1"/>
            <a:t>compattare</a:t>
          </a:r>
          <a:r>
            <a:rPr lang="en-US" dirty="0"/>
            <a:t> la propria </a:t>
          </a:r>
          <a:r>
            <a:rPr lang="en-US" dirty="0" err="1"/>
            <a:t>bolla</a:t>
          </a:r>
          <a:r>
            <a:rPr lang="en-US" dirty="0"/>
            <a:t>.</a:t>
          </a:r>
        </a:p>
      </dgm:t>
    </dgm:pt>
    <dgm:pt modelId="{6C6C9BB5-138D-4D16-A567-6778197FE096}" type="parTrans" cxnId="{8CCB28F9-4DFA-4914-BC3A-F02DF12B7F17}">
      <dgm:prSet/>
      <dgm:spPr/>
      <dgm:t>
        <a:bodyPr/>
        <a:lstStyle/>
        <a:p>
          <a:endParaRPr lang="en-US"/>
        </a:p>
      </dgm:t>
    </dgm:pt>
    <dgm:pt modelId="{B6AC1F7D-B16C-4ECC-83A2-EC86FEC694B5}" type="sibTrans" cxnId="{8CCB28F9-4DFA-4914-BC3A-F02DF12B7F17}">
      <dgm:prSet/>
      <dgm:spPr/>
      <dgm:t>
        <a:bodyPr/>
        <a:lstStyle/>
        <a:p>
          <a:endParaRPr lang="en-US"/>
        </a:p>
      </dgm:t>
    </dgm:pt>
    <dgm:pt modelId="{E98CF0DD-4AF5-45E2-AFEB-ABCDFB44309D}">
      <dgm:prSet/>
      <dgm:spPr/>
      <dgm:t>
        <a:bodyPr/>
        <a:lstStyle/>
        <a:p>
          <a:r>
            <a:rPr lang="en-US" b="1"/>
            <a:t>Riconoscimento dell'Ironia e del Sarcasmo:</a:t>
          </a:r>
          <a:r>
            <a:rPr lang="en-US"/>
            <a:t> Superare il calcolo letterale del testo, addestrando l'algoritmo a cogliere le sfumature derisorie e ironiche (fisiologiche nel dibattito politico) che oggi causano errori di classificazione.</a:t>
          </a:r>
        </a:p>
      </dgm:t>
    </dgm:pt>
    <dgm:pt modelId="{348980E9-AB3F-4A29-AC0E-501199FFDA8C}" type="parTrans" cxnId="{16554C81-CD86-4F05-9D78-7B41C5388F0F}">
      <dgm:prSet/>
      <dgm:spPr/>
      <dgm:t>
        <a:bodyPr/>
        <a:lstStyle/>
        <a:p>
          <a:endParaRPr lang="en-US"/>
        </a:p>
      </dgm:t>
    </dgm:pt>
    <dgm:pt modelId="{23A2670C-DCE7-46F1-97CF-0AAA39EE85E1}" type="sibTrans" cxnId="{16554C81-CD86-4F05-9D78-7B41C5388F0F}">
      <dgm:prSet/>
      <dgm:spPr/>
      <dgm:t>
        <a:bodyPr/>
        <a:lstStyle/>
        <a:p>
          <a:endParaRPr lang="en-US"/>
        </a:p>
      </dgm:t>
    </dgm:pt>
    <dgm:pt modelId="{C0CB829E-3D7C-B343-B0FC-53C0C01EC050}" type="pres">
      <dgm:prSet presAssocID="{2C1C0440-1B53-4D91-91A3-E653B83B1FE1}" presName="Name0" presStyleCnt="0">
        <dgm:presLayoutVars>
          <dgm:dir/>
          <dgm:resizeHandles val="exact"/>
        </dgm:presLayoutVars>
      </dgm:prSet>
      <dgm:spPr/>
    </dgm:pt>
    <dgm:pt modelId="{CA38C05E-86D0-4447-A0A6-DC9847D4AA17}" type="pres">
      <dgm:prSet presAssocID="{EA8295E6-C105-4233-88E8-169E0A11FF88}" presName="node" presStyleLbl="node1" presStyleIdx="0" presStyleCnt="3">
        <dgm:presLayoutVars>
          <dgm:bulletEnabled val="1"/>
        </dgm:presLayoutVars>
      </dgm:prSet>
      <dgm:spPr/>
    </dgm:pt>
    <dgm:pt modelId="{6F7E575F-00D8-FA43-961F-C02F3D245AA4}" type="pres">
      <dgm:prSet presAssocID="{099660E3-69B0-420C-B8A9-3F7B73BDB8CC}" presName="sibTrans" presStyleLbl="sibTrans2D1" presStyleIdx="0" presStyleCnt="2"/>
      <dgm:spPr/>
    </dgm:pt>
    <dgm:pt modelId="{CF32B71B-FEAA-1646-BB22-D2026B10A5F3}" type="pres">
      <dgm:prSet presAssocID="{099660E3-69B0-420C-B8A9-3F7B73BDB8CC}" presName="connectorText" presStyleLbl="sibTrans2D1" presStyleIdx="0" presStyleCnt="2"/>
      <dgm:spPr/>
    </dgm:pt>
    <dgm:pt modelId="{AE488630-1DCF-3D42-AB95-463580E640C3}" type="pres">
      <dgm:prSet presAssocID="{761F1FB0-0530-4E40-A7A5-1879F5888769}" presName="node" presStyleLbl="node1" presStyleIdx="1" presStyleCnt="3">
        <dgm:presLayoutVars>
          <dgm:bulletEnabled val="1"/>
        </dgm:presLayoutVars>
      </dgm:prSet>
      <dgm:spPr/>
    </dgm:pt>
    <dgm:pt modelId="{B5B9E4B0-E5A1-914F-94DC-A0E73BFDF2BC}" type="pres">
      <dgm:prSet presAssocID="{B6AC1F7D-B16C-4ECC-83A2-EC86FEC694B5}" presName="sibTrans" presStyleLbl="sibTrans2D1" presStyleIdx="1" presStyleCnt="2"/>
      <dgm:spPr/>
    </dgm:pt>
    <dgm:pt modelId="{CC052764-13AD-F241-B06C-9367CA554020}" type="pres">
      <dgm:prSet presAssocID="{B6AC1F7D-B16C-4ECC-83A2-EC86FEC694B5}" presName="connectorText" presStyleLbl="sibTrans2D1" presStyleIdx="1" presStyleCnt="2"/>
      <dgm:spPr/>
    </dgm:pt>
    <dgm:pt modelId="{67394828-6A7B-234D-B9EE-FF0CAD93ECCD}" type="pres">
      <dgm:prSet presAssocID="{E98CF0DD-4AF5-45E2-AFEB-ABCDFB44309D}" presName="node" presStyleLbl="node1" presStyleIdx="2" presStyleCnt="3">
        <dgm:presLayoutVars>
          <dgm:bulletEnabled val="1"/>
        </dgm:presLayoutVars>
      </dgm:prSet>
      <dgm:spPr/>
    </dgm:pt>
  </dgm:ptLst>
  <dgm:cxnLst>
    <dgm:cxn modelId="{AA581608-FEE6-1045-8B0B-342CA0209505}" type="presOf" srcId="{EA8295E6-C105-4233-88E8-169E0A11FF88}" destId="{CA38C05E-86D0-4447-A0A6-DC9847D4AA17}" srcOrd="0" destOrd="0" presId="urn:microsoft.com/office/officeart/2005/8/layout/process1"/>
    <dgm:cxn modelId="{034B3A5B-C78C-F04D-A2CB-3ADFF736A010}" type="presOf" srcId="{B6AC1F7D-B16C-4ECC-83A2-EC86FEC694B5}" destId="{CC052764-13AD-F241-B06C-9367CA554020}" srcOrd="1" destOrd="0" presId="urn:microsoft.com/office/officeart/2005/8/layout/process1"/>
    <dgm:cxn modelId="{3B217E7C-CB5C-CF4C-B183-1E097653E80C}" type="presOf" srcId="{2C1C0440-1B53-4D91-91A3-E653B83B1FE1}" destId="{C0CB829E-3D7C-B343-B0FC-53C0C01EC050}" srcOrd="0" destOrd="0" presId="urn:microsoft.com/office/officeart/2005/8/layout/process1"/>
    <dgm:cxn modelId="{16554C81-CD86-4F05-9D78-7B41C5388F0F}" srcId="{2C1C0440-1B53-4D91-91A3-E653B83B1FE1}" destId="{E98CF0DD-4AF5-45E2-AFEB-ABCDFB44309D}" srcOrd="2" destOrd="0" parTransId="{348980E9-AB3F-4A29-AC0E-501199FFDA8C}" sibTransId="{23A2670C-DCE7-46F1-97CF-0AAA39EE85E1}"/>
    <dgm:cxn modelId="{6268B385-107B-084D-A89A-6EB6CEB5D15B}" type="presOf" srcId="{099660E3-69B0-420C-B8A9-3F7B73BDB8CC}" destId="{CF32B71B-FEAA-1646-BB22-D2026B10A5F3}" srcOrd="1" destOrd="0" presId="urn:microsoft.com/office/officeart/2005/8/layout/process1"/>
    <dgm:cxn modelId="{7C0898A1-6A81-3641-A2E6-71F72122DDA6}" type="presOf" srcId="{B6AC1F7D-B16C-4ECC-83A2-EC86FEC694B5}" destId="{B5B9E4B0-E5A1-914F-94DC-A0E73BFDF2BC}" srcOrd="0" destOrd="0" presId="urn:microsoft.com/office/officeart/2005/8/layout/process1"/>
    <dgm:cxn modelId="{3222EAC1-7E2A-48CD-8F76-B56FF51B5004}" srcId="{2C1C0440-1B53-4D91-91A3-E653B83B1FE1}" destId="{EA8295E6-C105-4233-88E8-169E0A11FF88}" srcOrd="0" destOrd="0" parTransId="{6A10AB74-C4B2-4073-8FF0-FC4E65F4E604}" sibTransId="{099660E3-69B0-420C-B8A9-3F7B73BDB8CC}"/>
    <dgm:cxn modelId="{ED8479DB-FF19-E141-8806-3097B7807FD5}" type="presOf" srcId="{E98CF0DD-4AF5-45E2-AFEB-ABCDFB44309D}" destId="{67394828-6A7B-234D-B9EE-FF0CAD93ECCD}" srcOrd="0" destOrd="0" presId="urn:microsoft.com/office/officeart/2005/8/layout/process1"/>
    <dgm:cxn modelId="{4781A7E0-AD94-0147-B040-C71643564ED1}" type="presOf" srcId="{099660E3-69B0-420C-B8A9-3F7B73BDB8CC}" destId="{6F7E575F-00D8-FA43-961F-C02F3D245AA4}" srcOrd="0" destOrd="0" presId="urn:microsoft.com/office/officeart/2005/8/layout/process1"/>
    <dgm:cxn modelId="{B23977EE-14BE-4844-AE74-4BD67042FF5B}" type="presOf" srcId="{761F1FB0-0530-4E40-A7A5-1879F5888769}" destId="{AE488630-1DCF-3D42-AB95-463580E640C3}" srcOrd="0" destOrd="0" presId="urn:microsoft.com/office/officeart/2005/8/layout/process1"/>
    <dgm:cxn modelId="{8CCB28F9-4DFA-4914-BC3A-F02DF12B7F17}" srcId="{2C1C0440-1B53-4D91-91A3-E653B83B1FE1}" destId="{761F1FB0-0530-4E40-A7A5-1879F5888769}" srcOrd="1" destOrd="0" parTransId="{6C6C9BB5-138D-4D16-A567-6778197FE096}" sibTransId="{B6AC1F7D-B16C-4ECC-83A2-EC86FEC694B5}"/>
    <dgm:cxn modelId="{5AD880BD-3AE9-E34A-B13F-D74C94B35FD8}" type="presParOf" srcId="{C0CB829E-3D7C-B343-B0FC-53C0C01EC050}" destId="{CA38C05E-86D0-4447-A0A6-DC9847D4AA17}" srcOrd="0" destOrd="0" presId="urn:microsoft.com/office/officeart/2005/8/layout/process1"/>
    <dgm:cxn modelId="{B336F722-1816-8D4E-8023-ADAD22315A66}" type="presParOf" srcId="{C0CB829E-3D7C-B343-B0FC-53C0C01EC050}" destId="{6F7E575F-00D8-FA43-961F-C02F3D245AA4}" srcOrd="1" destOrd="0" presId="urn:microsoft.com/office/officeart/2005/8/layout/process1"/>
    <dgm:cxn modelId="{EC56ACB7-51E9-3E46-A31B-B95931BA3156}" type="presParOf" srcId="{6F7E575F-00D8-FA43-961F-C02F3D245AA4}" destId="{CF32B71B-FEAA-1646-BB22-D2026B10A5F3}" srcOrd="0" destOrd="0" presId="urn:microsoft.com/office/officeart/2005/8/layout/process1"/>
    <dgm:cxn modelId="{EB47E47F-5C10-244F-9DB3-5164BAB3337F}" type="presParOf" srcId="{C0CB829E-3D7C-B343-B0FC-53C0C01EC050}" destId="{AE488630-1DCF-3D42-AB95-463580E640C3}" srcOrd="2" destOrd="0" presId="urn:microsoft.com/office/officeart/2005/8/layout/process1"/>
    <dgm:cxn modelId="{D74EA4CC-A20C-6649-9447-080783C1BA97}" type="presParOf" srcId="{C0CB829E-3D7C-B343-B0FC-53C0C01EC050}" destId="{B5B9E4B0-E5A1-914F-94DC-A0E73BFDF2BC}" srcOrd="3" destOrd="0" presId="urn:microsoft.com/office/officeart/2005/8/layout/process1"/>
    <dgm:cxn modelId="{07A696D7-3AA9-2B42-B939-81A18A32C164}" type="presParOf" srcId="{B5B9E4B0-E5A1-914F-94DC-A0E73BFDF2BC}" destId="{CC052764-13AD-F241-B06C-9367CA554020}" srcOrd="0" destOrd="0" presId="urn:microsoft.com/office/officeart/2005/8/layout/process1"/>
    <dgm:cxn modelId="{1F636936-CBC6-C644-A456-006B1BBABB15}" type="presParOf" srcId="{C0CB829E-3D7C-B343-B0FC-53C0C01EC050}" destId="{67394828-6A7B-234D-B9EE-FF0CAD93ECC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59C5CD-FE65-4160-8908-56633664084E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</dsp:sp>
    <dsp:sp modelId="{960B6F8F-9BEC-4508-882C-8D5896F4D645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 dpi="0" rotWithShape="1">
          <a:blip xmlns:r="http://schemas.openxmlformats.org/officeDocument/2006/relationships">
            <a:biLevel thresh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D8829-39EA-4493-9E0F-B75C02107B7A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RQ1 (</a:t>
          </a:r>
          <a:r>
            <a:rPr lang="en-US" sz="2500" kern="1200" dirty="0" err="1"/>
            <a:t>Struttura</a:t>
          </a:r>
          <a:r>
            <a:rPr lang="en-US" sz="2500" kern="1200" dirty="0"/>
            <a:t> e </a:t>
          </a:r>
          <a:r>
            <a:rPr lang="en-US" sz="2500" kern="1200" dirty="0" err="1"/>
            <a:t>Segregazione</a:t>
          </a:r>
          <a:r>
            <a:rPr lang="en-US" sz="2500" kern="1200" dirty="0"/>
            <a:t>): Come </a:t>
          </a:r>
          <a:r>
            <a:rPr lang="en-US" sz="2500" kern="1200" dirty="0" err="1"/>
            <a:t>si</a:t>
          </a:r>
          <a:r>
            <a:rPr lang="en-US" sz="2500" kern="1200" dirty="0"/>
            <a:t> </a:t>
          </a:r>
          <a:r>
            <a:rPr lang="en-US" sz="2500" kern="1200" dirty="0" err="1"/>
            <a:t>strutturano</a:t>
          </a:r>
          <a:r>
            <a:rPr lang="en-US" sz="2500" kern="1200" dirty="0"/>
            <a:t> le Echo Chambers </a:t>
          </a:r>
          <a:r>
            <a:rPr lang="en-US" sz="2500" kern="1200" dirty="0" err="1"/>
            <a:t>su</a:t>
          </a:r>
          <a:r>
            <a:rPr lang="en-US" sz="2500" kern="1200" dirty="0"/>
            <a:t> Bluesky?</a:t>
          </a:r>
        </a:p>
      </dsp:txBody>
      <dsp:txXfrm>
        <a:off x="1493203" y="552"/>
        <a:ext cx="6736396" cy="1292816"/>
      </dsp:txXfrm>
    </dsp:sp>
    <dsp:sp modelId="{054D7D17-9E77-4651-9744-73E43A6DCDA5}">
      <dsp:nvSpPr>
        <dsp:cNvPr id="0" name=""/>
        <dsp:cNvSpPr/>
      </dsp:nvSpPr>
      <dsp:spPr>
        <a:xfrm>
          <a:off x="0" y="1584382"/>
          <a:ext cx="8229600" cy="129281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1">
          <a:schemeClr val="accent5"/>
        </a:lnRef>
        <a:fillRef idx="3">
          <a:schemeClr val="accent5"/>
        </a:fillRef>
        <a:effectRef idx="2">
          <a:schemeClr val="accent5"/>
        </a:effectRef>
        <a:fontRef idx="minor">
          <a:schemeClr val="lt1"/>
        </a:fontRef>
      </dsp:style>
    </dsp:sp>
    <dsp:sp modelId="{A6F09798-FA90-455D-AB46-D200CB4C0D36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>
            <a:biLevel thresh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6E3477-DCEA-4338-B2E1-9728DAE6F151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RQ2 (</a:t>
          </a:r>
          <a:r>
            <a:rPr lang="en-US" sz="2500" kern="1200" dirty="0" err="1"/>
            <a:t>Dinamica</a:t>
          </a:r>
          <a:r>
            <a:rPr lang="en-US" sz="2500" kern="1200" dirty="0"/>
            <a:t> e </a:t>
          </a:r>
          <a:r>
            <a:rPr lang="en-US" sz="2500" kern="1200" dirty="0" err="1"/>
            <a:t>Tossicità</a:t>
          </a:r>
          <a:r>
            <a:rPr lang="en-US" sz="2500" kern="1200" dirty="0"/>
            <a:t>): Qual </a:t>
          </a:r>
          <a:r>
            <a:rPr lang="en-US" sz="2500" kern="1200" dirty="0" err="1"/>
            <a:t>è</a:t>
          </a:r>
          <a:r>
            <a:rPr lang="en-US" sz="2500" kern="1200" dirty="0"/>
            <a:t> </a:t>
          </a:r>
          <a:r>
            <a:rPr lang="en-US" sz="2500" kern="1200" dirty="0" err="1"/>
            <a:t>l'impronta</a:t>
          </a:r>
          <a:r>
            <a:rPr lang="en-US" sz="2500" kern="1200" dirty="0"/>
            <a:t> </a:t>
          </a:r>
          <a:r>
            <a:rPr lang="en-US" sz="2500" kern="1200" dirty="0" err="1"/>
            <a:t>emotiva</a:t>
          </a:r>
          <a:r>
            <a:rPr lang="en-US" sz="2500" kern="1200" dirty="0"/>
            <a:t> del </a:t>
          </a:r>
          <a:r>
            <a:rPr lang="en-US" sz="2500" kern="1200" dirty="0" err="1"/>
            <a:t>dibattito</a:t>
          </a:r>
          <a:r>
            <a:rPr lang="en-US" sz="2500" kern="1200" dirty="0"/>
            <a:t>?</a:t>
          </a:r>
        </a:p>
      </dsp:txBody>
      <dsp:txXfrm>
        <a:off x="1493203" y="1616573"/>
        <a:ext cx="6736396" cy="1292816"/>
      </dsp:txXfrm>
    </dsp:sp>
    <dsp:sp modelId="{5D132AA5-DAD2-9046-8580-D64138BAEF7C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4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39648A-8171-9C45-AC5D-8CA32CCD4CD3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05EE4B-EA47-0D4D-94EF-C0183E8EA1B3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500" kern="1200" dirty="0"/>
        </a:p>
      </dsp:txBody>
      <dsp:txXfrm>
        <a:off x="1493203" y="3232593"/>
        <a:ext cx="6736396" cy="12928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4A2B5-7CBF-4FA2-9340-EFFAE29D7EA2}">
      <dsp:nvSpPr>
        <dsp:cNvPr id="0" name=""/>
        <dsp:cNvSpPr/>
      </dsp:nvSpPr>
      <dsp:spPr>
        <a:xfrm>
          <a:off x="0" y="707092"/>
          <a:ext cx="7886700" cy="1305401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</dsp:sp>
    <dsp:sp modelId="{59307B0E-6DB9-4F15-BE02-4BE3D067ED4D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CA1346-B51D-4ECC-9A49-0E10B78B205A}">
      <dsp:nvSpPr>
        <dsp:cNvPr id="0" name=""/>
        <dsp:cNvSpPr/>
      </dsp:nvSpPr>
      <dsp:spPr>
        <a:xfrm>
          <a:off x="1507738" y="707092"/>
          <a:ext cx="63789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T" sz="2200" kern="1200" dirty="0"/>
            <a:t>Estrazione massiva tramite API ufficiali (atproto) utilizzando un approccio Map-Reduce su 13 keyword polarizzanti legate al tema DEI.</a:t>
          </a:r>
          <a:endParaRPr lang="en-US" sz="2200" kern="1200" dirty="0"/>
        </a:p>
      </dsp:txBody>
      <dsp:txXfrm>
        <a:off x="1507738" y="707092"/>
        <a:ext cx="6378961" cy="1305401"/>
      </dsp:txXfrm>
    </dsp:sp>
    <dsp:sp modelId="{912A01DF-9595-4473-8A06-350DC12D244B}">
      <dsp:nvSpPr>
        <dsp:cNvPr id="0" name=""/>
        <dsp:cNvSpPr/>
      </dsp:nvSpPr>
      <dsp:spPr>
        <a:xfrm>
          <a:off x="0" y="2338844"/>
          <a:ext cx="7886700" cy="1305401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</dsp:sp>
    <dsp:sp modelId="{DD324A6B-CF52-46F9-9B27-01821A63AFC7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675F26-0128-4AB7-B9E4-8D0E1C9138A2}">
      <dsp:nvSpPr>
        <dsp:cNvPr id="0" name=""/>
        <dsp:cNvSpPr/>
      </dsp:nvSpPr>
      <dsp:spPr>
        <a:xfrm>
          <a:off x="1507738" y="2338844"/>
          <a:ext cx="63789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T" sz="2200" kern="1200" dirty="0"/>
            <a:t>Dataset risultante: </a:t>
          </a:r>
          <a:r>
            <a:rPr lang="en-IT" sz="2200" b="0" i="0" kern="1200" dirty="0"/>
            <a:t>45989</a:t>
          </a:r>
          <a:r>
            <a:rPr lang="en-IT" sz="2200" kern="1200" dirty="0"/>
            <a:t> root posts validi.</a:t>
          </a:r>
          <a:br>
            <a:rPr lang="en-IT" sz="2200" kern="1200" dirty="0"/>
          </a:br>
          <a:r>
            <a:rPr lang="en-US" sz="2200" kern="1200" dirty="0" err="1"/>
            <a:t>Potenziale</a:t>
          </a:r>
          <a:r>
            <a:rPr lang="en-US" sz="2200" kern="1200" dirty="0"/>
            <a:t> </a:t>
          </a:r>
          <a:r>
            <a:rPr lang="en-US" sz="2200" kern="1200" dirty="0" err="1"/>
            <a:t>estrattivo</a:t>
          </a:r>
          <a:r>
            <a:rPr lang="en-US" sz="2200" kern="1200" dirty="0"/>
            <a:t>: </a:t>
          </a:r>
          <a:r>
            <a:rPr lang="en-US" sz="2200" kern="1200" dirty="0" err="1"/>
            <a:t>Oltre</a:t>
          </a:r>
          <a:r>
            <a:rPr lang="en-US" sz="2200" kern="1200" dirty="0"/>
            <a:t> </a:t>
          </a:r>
          <a:r>
            <a:rPr lang="en-IT" sz="2200" b="0" i="0" kern="1200" dirty="0"/>
            <a:t>116500</a:t>
          </a:r>
          <a:r>
            <a:rPr lang="en-US" sz="2200" kern="1200" dirty="0"/>
            <a:t> </a:t>
          </a:r>
          <a:r>
            <a:rPr lang="en-US" sz="2200" kern="1200" dirty="0" err="1"/>
            <a:t>interazioni</a:t>
          </a:r>
          <a:r>
            <a:rPr lang="en-US" sz="2200" kern="1200" dirty="0"/>
            <a:t> </a:t>
          </a:r>
          <a:r>
            <a:rPr lang="en-US" sz="2200" kern="1200" dirty="0" err="1"/>
            <a:t>stimate</a:t>
          </a:r>
          <a:r>
            <a:rPr lang="en-US" sz="2200" kern="1200" dirty="0"/>
            <a:t>.</a:t>
          </a:r>
        </a:p>
      </dsp:txBody>
      <dsp:txXfrm>
        <a:off x="1507738" y="2338844"/>
        <a:ext cx="6378961" cy="13054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2E2E39-735A-FE4C-A03C-96F667FBDE70}">
      <dsp:nvSpPr>
        <dsp:cNvPr id="0" name=""/>
        <dsp:cNvSpPr/>
      </dsp:nvSpPr>
      <dsp:spPr>
        <a:xfrm>
          <a:off x="235726" y="2101"/>
          <a:ext cx="2643221" cy="78172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Estrazione ricorsiva dei thread dei top 2.500 post.</a:t>
          </a:r>
          <a:endParaRPr lang="en-US" sz="1800" kern="1200"/>
        </a:p>
      </dsp:txBody>
      <dsp:txXfrm>
        <a:off x="258622" y="24997"/>
        <a:ext cx="2597429" cy="735937"/>
      </dsp:txXfrm>
    </dsp:sp>
    <dsp:sp modelId="{85413BDF-BAD2-5C48-8FE1-7E8D221040DE}">
      <dsp:nvSpPr>
        <dsp:cNvPr id="0" name=""/>
        <dsp:cNvSpPr/>
      </dsp:nvSpPr>
      <dsp:spPr>
        <a:xfrm rot="5400000">
          <a:off x="1410763" y="803373"/>
          <a:ext cx="293148" cy="3517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451804" y="832688"/>
        <a:ext cx="211066" cy="205204"/>
      </dsp:txXfrm>
    </dsp:sp>
    <dsp:sp modelId="{D4D03A70-FC75-684E-BA66-21E80201B3F9}">
      <dsp:nvSpPr>
        <dsp:cNvPr id="0" name=""/>
        <dsp:cNvSpPr/>
      </dsp:nvSpPr>
      <dsp:spPr>
        <a:xfrm>
          <a:off x="235726" y="1174695"/>
          <a:ext cx="2643221" cy="78172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 err="1"/>
            <a:t>Grafo</a:t>
          </a:r>
          <a:r>
            <a:rPr lang="en-GB" sz="1800" kern="1200" dirty="0"/>
            <a:t> </a:t>
          </a:r>
          <a:r>
            <a:rPr lang="en-GB" sz="1800" kern="1200" dirty="0" err="1"/>
            <a:t>Diretto</a:t>
          </a:r>
          <a:r>
            <a:rPr lang="en-GB" sz="1800" kern="1200" dirty="0"/>
            <a:t> </a:t>
          </a:r>
          <a:r>
            <a:rPr lang="en-GB" sz="1800" kern="1200" dirty="0" err="1"/>
            <a:t>ripulito</a:t>
          </a:r>
          <a:r>
            <a:rPr lang="en-GB" sz="1800" kern="1200" dirty="0"/>
            <a:t> </a:t>
          </a:r>
          <a:r>
            <a:rPr lang="en-GB" sz="1800" kern="1200" dirty="0" err="1"/>
            <a:t>dai</a:t>
          </a:r>
          <a:r>
            <a:rPr lang="en-GB" sz="1800" kern="1200" dirty="0"/>
            <a:t> self-loop.</a:t>
          </a:r>
          <a:endParaRPr lang="en-US" sz="1800" kern="1200" dirty="0"/>
        </a:p>
      </dsp:txBody>
      <dsp:txXfrm>
        <a:off x="258622" y="1197591"/>
        <a:ext cx="2597429" cy="735937"/>
      </dsp:txXfrm>
    </dsp:sp>
    <dsp:sp modelId="{4A4DDAD8-22FD-E94C-82DD-A78F6330C3F8}">
      <dsp:nvSpPr>
        <dsp:cNvPr id="0" name=""/>
        <dsp:cNvSpPr/>
      </dsp:nvSpPr>
      <dsp:spPr>
        <a:xfrm rot="5400000">
          <a:off x="1410763" y="1975967"/>
          <a:ext cx="293148" cy="3517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451804" y="2005282"/>
        <a:ext cx="211066" cy="205204"/>
      </dsp:txXfrm>
    </dsp:sp>
    <dsp:sp modelId="{48F2237D-1D93-854C-8A5D-55B9C2E8803F}">
      <dsp:nvSpPr>
        <dsp:cNvPr id="0" name=""/>
        <dsp:cNvSpPr/>
      </dsp:nvSpPr>
      <dsp:spPr>
        <a:xfrm>
          <a:off x="235726" y="2347288"/>
          <a:ext cx="2643221" cy="78172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Nodi (</a:t>
          </a:r>
          <a:r>
            <a:rPr lang="en-GB" sz="1800" kern="1200" dirty="0" err="1"/>
            <a:t>Utenti</a:t>
          </a:r>
          <a:r>
            <a:rPr lang="en-GB" sz="1800" kern="1200" dirty="0"/>
            <a:t> </a:t>
          </a:r>
          <a:r>
            <a:rPr lang="en-GB" sz="1800" kern="1200" dirty="0" err="1"/>
            <a:t>unici</a:t>
          </a:r>
          <a:r>
            <a:rPr lang="en-GB" sz="1800" kern="1200" dirty="0"/>
            <a:t>): </a:t>
          </a:r>
          <a:r>
            <a:rPr lang="en-IT" sz="1800" b="0" i="0" kern="1200" dirty="0"/>
            <a:t>32443</a:t>
          </a:r>
          <a:endParaRPr lang="en-US" sz="1800" kern="1200" dirty="0"/>
        </a:p>
      </dsp:txBody>
      <dsp:txXfrm>
        <a:off x="258622" y="2370184"/>
        <a:ext cx="2597429" cy="735937"/>
      </dsp:txXfrm>
    </dsp:sp>
    <dsp:sp modelId="{8972AE11-9EEA-DA42-A3B3-7F559F87A514}">
      <dsp:nvSpPr>
        <dsp:cNvPr id="0" name=""/>
        <dsp:cNvSpPr/>
      </dsp:nvSpPr>
      <dsp:spPr>
        <a:xfrm rot="5400000">
          <a:off x="1410763" y="3148561"/>
          <a:ext cx="293148" cy="3517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451804" y="3177876"/>
        <a:ext cx="211066" cy="205204"/>
      </dsp:txXfrm>
    </dsp:sp>
    <dsp:sp modelId="{E7CCAFA0-C876-CD44-A81D-5550F72A75B6}">
      <dsp:nvSpPr>
        <dsp:cNvPr id="0" name=""/>
        <dsp:cNvSpPr/>
      </dsp:nvSpPr>
      <dsp:spPr>
        <a:xfrm>
          <a:off x="235726" y="3519882"/>
          <a:ext cx="2643221" cy="78172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Archi (</a:t>
          </a:r>
          <a:r>
            <a:rPr lang="en-GB" sz="1800" kern="1200" dirty="0" err="1"/>
            <a:t>Interazioni</a:t>
          </a:r>
          <a:r>
            <a:rPr lang="en-GB" sz="1800" kern="1200" dirty="0"/>
            <a:t>): </a:t>
          </a:r>
          <a:r>
            <a:rPr lang="en-IT" sz="1800" b="0" i="0" kern="1200" dirty="0"/>
            <a:t>53621</a:t>
          </a:r>
          <a:endParaRPr lang="en-US" sz="1800" kern="1200" dirty="0"/>
        </a:p>
      </dsp:txBody>
      <dsp:txXfrm>
        <a:off x="258622" y="3542778"/>
        <a:ext cx="2597429" cy="7359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2E2E39-735A-FE4C-A03C-96F667FBDE70}">
      <dsp:nvSpPr>
        <dsp:cNvPr id="0" name=""/>
        <dsp:cNvSpPr/>
      </dsp:nvSpPr>
      <dsp:spPr>
        <a:xfrm>
          <a:off x="312221" y="0"/>
          <a:ext cx="2353216" cy="75967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Partizionamento</a:t>
          </a:r>
          <a:r>
            <a:rPr lang="en-GB" sz="1400" kern="1200" dirty="0"/>
            <a:t> </a:t>
          </a:r>
          <a:r>
            <a:rPr lang="en-GB" sz="1400" kern="1200" dirty="0" err="1"/>
            <a:t>tramite</a:t>
          </a:r>
          <a:r>
            <a:rPr lang="en-GB" sz="1400" kern="1200" dirty="0"/>
            <a:t> </a:t>
          </a:r>
          <a:r>
            <a:rPr lang="en-GB" sz="1400" kern="1200" dirty="0" err="1"/>
            <a:t>Algoritmo</a:t>
          </a:r>
          <a:r>
            <a:rPr lang="en-GB" sz="1400" kern="1200" dirty="0"/>
            <a:t> di Louvain</a:t>
          </a:r>
          <a:endParaRPr lang="en-US" sz="1400" kern="1200" dirty="0"/>
        </a:p>
      </dsp:txBody>
      <dsp:txXfrm>
        <a:off x="334471" y="22250"/>
        <a:ext cx="2308716" cy="715176"/>
      </dsp:txXfrm>
    </dsp:sp>
    <dsp:sp modelId="{85413BDF-BAD2-5C48-8FE1-7E8D221040DE}">
      <dsp:nvSpPr>
        <dsp:cNvPr id="0" name=""/>
        <dsp:cNvSpPr/>
      </dsp:nvSpPr>
      <dsp:spPr>
        <a:xfrm rot="5400000">
          <a:off x="1346390" y="778668"/>
          <a:ext cx="284878" cy="34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386274" y="807156"/>
        <a:ext cx="205112" cy="199415"/>
      </dsp:txXfrm>
    </dsp:sp>
    <dsp:sp modelId="{D4D03A70-FC75-684E-BA66-21E80201B3F9}">
      <dsp:nvSpPr>
        <dsp:cNvPr id="0" name=""/>
        <dsp:cNvSpPr/>
      </dsp:nvSpPr>
      <dsp:spPr>
        <a:xfrm>
          <a:off x="312221" y="1139514"/>
          <a:ext cx="2353216" cy="75967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Obiettivo</a:t>
          </a:r>
          <a:r>
            <a:rPr lang="en-GB" sz="1400" kern="1200" dirty="0"/>
            <a:t>: </a:t>
          </a:r>
          <a:r>
            <a:rPr lang="en-GB" sz="1400" kern="1200" dirty="0" err="1"/>
            <a:t>trovare</a:t>
          </a:r>
          <a:r>
            <a:rPr lang="en-GB" sz="1400" kern="1200" dirty="0"/>
            <a:t> </a:t>
          </a:r>
          <a:r>
            <a:rPr lang="en-GB" sz="1400" kern="1200" dirty="0" err="1"/>
            <a:t>sottogruppi</a:t>
          </a:r>
          <a:r>
            <a:rPr lang="en-GB" sz="1400" kern="1200" dirty="0"/>
            <a:t> </a:t>
          </a:r>
          <a:r>
            <a:rPr lang="en-GB" sz="1400" kern="1200" dirty="0" err="1"/>
            <a:t>chiusi</a:t>
          </a:r>
          <a:r>
            <a:rPr lang="en-GB" sz="1400" kern="1200" dirty="0"/>
            <a:t> con </a:t>
          </a:r>
          <a:r>
            <a:rPr lang="en-GB" sz="1400" kern="1200" dirty="0" err="1"/>
            <a:t>alta</a:t>
          </a:r>
          <a:r>
            <a:rPr lang="en-GB" sz="1400" kern="1200" dirty="0"/>
            <a:t> </a:t>
          </a:r>
          <a:r>
            <a:rPr lang="en-GB" sz="1400" kern="1200" dirty="0" err="1"/>
            <a:t>densità</a:t>
          </a:r>
          <a:r>
            <a:rPr lang="en-GB" sz="1400" kern="1200" dirty="0"/>
            <a:t> di </a:t>
          </a:r>
          <a:r>
            <a:rPr lang="en-GB" sz="1400" kern="1200" dirty="0" err="1"/>
            <a:t>comunicazione</a:t>
          </a:r>
          <a:r>
            <a:rPr lang="en-GB" sz="1400" kern="1200" dirty="0"/>
            <a:t> interna.</a:t>
          </a:r>
          <a:endParaRPr lang="en-US" sz="1400" kern="1200" dirty="0"/>
        </a:p>
      </dsp:txBody>
      <dsp:txXfrm>
        <a:off x="334471" y="1161764"/>
        <a:ext cx="2308716" cy="715176"/>
      </dsp:txXfrm>
    </dsp:sp>
    <dsp:sp modelId="{4A4DDAD8-22FD-E94C-82DD-A78F6330C3F8}">
      <dsp:nvSpPr>
        <dsp:cNvPr id="0" name=""/>
        <dsp:cNvSpPr/>
      </dsp:nvSpPr>
      <dsp:spPr>
        <a:xfrm rot="5400000">
          <a:off x="1346390" y="1918183"/>
          <a:ext cx="284878" cy="3418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386274" y="1946671"/>
        <a:ext cx="205112" cy="199415"/>
      </dsp:txXfrm>
    </dsp:sp>
    <dsp:sp modelId="{48F2237D-1D93-854C-8A5D-55B9C2E8803F}">
      <dsp:nvSpPr>
        <dsp:cNvPr id="0" name=""/>
        <dsp:cNvSpPr/>
      </dsp:nvSpPr>
      <dsp:spPr>
        <a:xfrm>
          <a:off x="312221" y="2279029"/>
          <a:ext cx="2353216" cy="759676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 err="1"/>
            <a:t>Risultato</a:t>
          </a:r>
          <a:r>
            <a:rPr lang="en-GB" sz="1400" kern="1200" dirty="0"/>
            <a:t>: </a:t>
          </a:r>
          <a:r>
            <a:rPr lang="en-GB" sz="1400" kern="1200" dirty="0" err="1"/>
            <a:t>Trovate</a:t>
          </a:r>
          <a:r>
            <a:rPr lang="en-GB" sz="1400" kern="1200" dirty="0"/>
            <a:t> </a:t>
          </a:r>
          <a:r>
            <a:rPr lang="en-IT" sz="1400" b="0" i="0" kern="1200" dirty="0"/>
            <a:t>430</a:t>
          </a:r>
          <a:r>
            <a:rPr lang="en-GB" sz="1400" kern="1200" dirty="0"/>
            <a:t> community isolate.</a:t>
          </a:r>
          <a:endParaRPr lang="en-US" sz="1400" kern="1200" dirty="0"/>
        </a:p>
      </dsp:txBody>
      <dsp:txXfrm>
        <a:off x="334471" y="2301279"/>
        <a:ext cx="2308716" cy="7151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8FEB29-A5C6-4BA0-A80C-9F344CE5382A}">
      <dsp:nvSpPr>
        <dsp:cNvPr id="0" name=""/>
        <dsp:cNvSpPr/>
      </dsp:nvSpPr>
      <dsp:spPr>
        <a:xfrm>
          <a:off x="996684" y="889454"/>
          <a:ext cx="1554187" cy="155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3BED74-16D5-4510-9429-0D34A6572F79}">
      <dsp:nvSpPr>
        <dsp:cNvPr id="0" name=""/>
        <dsp:cNvSpPr/>
      </dsp:nvSpPr>
      <dsp:spPr>
        <a:xfrm>
          <a:off x="46903" y="2845070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Clustering Coefficient Medio</a:t>
          </a:r>
          <a:r>
            <a:rPr lang="en-US" sz="1600" kern="1200" dirty="0"/>
            <a:t>: 0.0467</a:t>
          </a:r>
        </a:p>
      </dsp:txBody>
      <dsp:txXfrm>
        <a:off x="46903" y="2845070"/>
        <a:ext cx="3453750" cy="720000"/>
      </dsp:txXfrm>
    </dsp:sp>
    <dsp:sp modelId="{F65F50E2-19F3-4C56-A6F0-06A254D6DA22}">
      <dsp:nvSpPr>
        <dsp:cNvPr id="0" name=""/>
        <dsp:cNvSpPr/>
      </dsp:nvSpPr>
      <dsp:spPr>
        <a:xfrm>
          <a:off x="5054840" y="889454"/>
          <a:ext cx="1554187" cy="1554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1A4B8-4BB7-40C9-BAE8-25D9FCC9A3FA}">
      <dsp:nvSpPr>
        <dsp:cNvPr id="0" name=""/>
        <dsp:cNvSpPr/>
      </dsp:nvSpPr>
      <dsp:spPr>
        <a:xfrm>
          <a:off x="4105059" y="2845070"/>
          <a:ext cx="345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 err="1"/>
            <a:t>Significato</a:t>
          </a:r>
          <a:r>
            <a:rPr lang="en-US" sz="1600" kern="1200" dirty="0"/>
            <a:t>: Misura la </a:t>
          </a:r>
          <a:r>
            <a:rPr lang="en-US" sz="1600" kern="1200" dirty="0" err="1"/>
            <a:t>tendenza</a:t>
          </a:r>
          <a:r>
            <a:rPr lang="en-US" sz="1600" kern="1200" dirty="0"/>
            <a:t> degli </a:t>
          </a:r>
          <a:r>
            <a:rPr lang="en-US" sz="1600" kern="1200" dirty="0" err="1"/>
            <a:t>utenti</a:t>
          </a:r>
          <a:r>
            <a:rPr lang="en-US" sz="1600" kern="1200" dirty="0"/>
            <a:t> a </a:t>
          </a:r>
          <a:r>
            <a:rPr lang="en-US" sz="1600" kern="1200" dirty="0" err="1"/>
            <a:t>formare</a:t>
          </a:r>
          <a:r>
            <a:rPr lang="en-US" sz="1600" kern="1200" dirty="0"/>
            <a:t> '</a:t>
          </a:r>
          <a:r>
            <a:rPr lang="en-US" sz="1600" kern="1200" dirty="0" err="1"/>
            <a:t>triangoli</a:t>
          </a:r>
          <a:r>
            <a:rPr lang="en-US" sz="1600" kern="1200" dirty="0"/>
            <a:t>' </a:t>
          </a:r>
          <a:r>
            <a:rPr lang="en-US" sz="1600" kern="1200" dirty="0" err="1"/>
            <a:t>sociali</a:t>
          </a:r>
          <a:r>
            <a:rPr lang="en-US" sz="1600" kern="1200" dirty="0"/>
            <a:t> </a:t>
          </a:r>
          <a:r>
            <a:rPr lang="en-US" sz="1600" kern="1200" dirty="0" err="1"/>
            <a:t>chiusi</a:t>
          </a:r>
          <a:r>
            <a:rPr lang="en-US" sz="1600" kern="1200" dirty="0"/>
            <a:t>.</a:t>
          </a:r>
        </a:p>
      </dsp:txBody>
      <dsp:txXfrm>
        <a:off x="4105059" y="2845070"/>
        <a:ext cx="3453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A8257E-41F1-4A4C-8E84-5D620E564A73}">
      <dsp:nvSpPr>
        <dsp:cNvPr id="0" name=""/>
        <dsp:cNvSpPr/>
      </dsp:nvSpPr>
      <dsp:spPr>
        <a:xfrm>
          <a:off x="0" y="1354343"/>
          <a:ext cx="2218134" cy="1408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57187-43D9-764D-B6A0-5968AF963B7F}">
      <dsp:nvSpPr>
        <dsp:cNvPr id="0" name=""/>
        <dsp:cNvSpPr/>
      </dsp:nvSpPr>
      <dsp:spPr>
        <a:xfrm>
          <a:off x="246459" y="1588479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Analisi</a:t>
          </a:r>
          <a:r>
            <a:rPr lang="en-US" sz="1400" kern="1200" dirty="0"/>
            <a:t> delle </a:t>
          </a:r>
          <a:r>
            <a:rPr lang="en-US" sz="1400" kern="1200" dirty="0" err="1"/>
            <a:t>distanze</a:t>
          </a:r>
          <a:r>
            <a:rPr lang="en-US" sz="1400" kern="1200" dirty="0"/>
            <a:t> </a:t>
          </a:r>
          <a:r>
            <a:rPr lang="en-US" sz="1400" kern="1200" dirty="0" err="1"/>
            <a:t>sulla</a:t>
          </a:r>
          <a:r>
            <a:rPr lang="en-US" sz="1400" kern="1200" dirty="0"/>
            <a:t> </a:t>
          </a:r>
          <a:r>
            <a:rPr lang="en-US" sz="1400" b="1" kern="1200" dirty="0"/>
            <a:t>Giant Component </a:t>
          </a:r>
          <a:r>
            <a:rPr lang="en-US" sz="1400" kern="1200" dirty="0"/>
            <a:t>(</a:t>
          </a:r>
          <a:r>
            <a:rPr lang="en-IT" sz="1400" b="0" i="0" kern="1200" dirty="0"/>
            <a:t>30578</a:t>
          </a:r>
          <a:r>
            <a:rPr lang="en-US" sz="1400" kern="1200" dirty="0"/>
            <a:t> nodi)</a:t>
          </a:r>
        </a:p>
      </dsp:txBody>
      <dsp:txXfrm>
        <a:off x="287713" y="1629733"/>
        <a:ext cx="2135626" cy="1326007"/>
      </dsp:txXfrm>
    </dsp:sp>
    <dsp:sp modelId="{30B6CF9E-B9AC-AC42-9AFA-8A9DDB1AE5BC}">
      <dsp:nvSpPr>
        <dsp:cNvPr id="0" name=""/>
        <dsp:cNvSpPr/>
      </dsp:nvSpPr>
      <dsp:spPr>
        <a:xfrm>
          <a:off x="2711053" y="1354343"/>
          <a:ext cx="2218134" cy="1408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57C6A7-E4E2-974D-984F-001CDB740777}">
      <dsp:nvSpPr>
        <dsp:cNvPr id="0" name=""/>
        <dsp:cNvSpPr/>
      </dsp:nvSpPr>
      <dsp:spPr>
        <a:xfrm>
          <a:off x="2957512" y="1588479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Average Shortest Path: </a:t>
          </a:r>
          <a:r>
            <a:rPr lang="en-IT" sz="1400" b="0" i="0" kern="1200" dirty="0"/>
            <a:t>5.93</a:t>
          </a:r>
          <a:r>
            <a:rPr lang="en-US" sz="1400" kern="1200" dirty="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Diametro</a:t>
          </a:r>
          <a:r>
            <a:rPr lang="en-US" sz="1400" kern="1200" dirty="0"/>
            <a:t> della rete: 20 </a:t>
          </a:r>
        </a:p>
      </dsp:txBody>
      <dsp:txXfrm>
        <a:off x="2998766" y="1629733"/>
        <a:ext cx="2135626" cy="1326007"/>
      </dsp:txXfrm>
    </dsp:sp>
    <dsp:sp modelId="{71C8E1A2-CD2B-E84C-9E9A-696F21880C0C}">
      <dsp:nvSpPr>
        <dsp:cNvPr id="0" name=""/>
        <dsp:cNvSpPr/>
      </dsp:nvSpPr>
      <dsp:spPr>
        <a:xfrm>
          <a:off x="5422106" y="1354343"/>
          <a:ext cx="2218134" cy="14085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7CBE86-95BF-C248-BEDA-C65216BEC45E}">
      <dsp:nvSpPr>
        <dsp:cNvPr id="0" name=""/>
        <dsp:cNvSpPr/>
      </dsp:nvSpPr>
      <dsp:spPr>
        <a:xfrm>
          <a:off x="5668565" y="1588479"/>
          <a:ext cx="2218134" cy="14085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Il </a:t>
          </a:r>
          <a:r>
            <a:rPr lang="en-US" sz="1400" kern="1200" dirty="0" err="1"/>
            <a:t>Fenomeno</a:t>
          </a:r>
          <a:r>
            <a:rPr lang="en-US" sz="1400" kern="1200" dirty="0"/>
            <a:t> del ‘</a:t>
          </a:r>
          <a:r>
            <a:rPr lang="en-US" sz="1400" b="1" kern="1200" dirty="0"/>
            <a:t>Small world</a:t>
          </a:r>
          <a:r>
            <a:rPr lang="en-US" sz="1400" kern="1200" dirty="0"/>
            <a:t>’: </a:t>
          </a:r>
          <a:r>
            <a:rPr lang="en-US" sz="1400" kern="1200" dirty="0" err="1"/>
            <a:t>un'informazione</a:t>
          </a:r>
          <a:r>
            <a:rPr lang="en-US" sz="1400" kern="1200" dirty="0"/>
            <a:t> </a:t>
          </a:r>
          <a:r>
            <a:rPr lang="en-US" sz="1400" kern="1200" dirty="0" err="1"/>
            <a:t>impiega</a:t>
          </a:r>
          <a:r>
            <a:rPr lang="en-US" sz="1400" kern="1200" dirty="0"/>
            <a:t> </a:t>
          </a:r>
          <a:r>
            <a:rPr lang="en-US" sz="1400" kern="1200" dirty="0" err="1"/>
            <a:t>infatti</a:t>
          </a:r>
          <a:r>
            <a:rPr lang="en-US" sz="1400" kern="1200" dirty="0"/>
            <a:t> in media poco </a:t>
          </a:r>
          <a:r>
            <a:rPr lang="en-US" sz="1400" kern="1200" dirty="0" err="1"/>
            <a:t>più</a:t>
          </a:r>
          <a:r>
            <a:rPr lang="en-US" sz="1400" kern="1200" dirty="0"/>
            <a:t> di 6 </a:t>
          </a:r>
          <a:r>
            <a:rPr lang="en-US" sz="1400" kern="1200" dirty="0" err="1"/>
            <a:t>passaggi</a:t>
          </a:r>
          <a:r>
            <a:rPr lang="en-US" sz="1400" kern="1200" dirty="0"/>
            <a:t>  per </a:t>
          </a:r>
          <a:r>
            <a:rPr lang="en-US" sz="1400" kern="1200" dirty="0" err="1"/>
            <a:t>attraversare</a:t>
          </a:r>
          <a:r>
            <a:rPr lang="en-US" sz="1400" kern="1200" dirty="0"/>
            <a:t> </a:t>
          </a:r>
          <a:r>
            <a:rPr lang="en-US" sz="1400" kern="1200" dirty="0" err="1"/>
            <a:t>l'intera</a:t>
          </a:r>
          <a:r>
            <a:rPr lang="en-US" sz="1400" kern="1200" dirty="0"/>
            <a:t> </a:t>
          </a:r>
          <a:r>
            <a:rPr lang="en-US" sz="1400" kern="1200" dirty="0" err="1"/>
            <a:t>fazione</a:t>
          </a:r>
          <a:r>
            <a:rPr lang="en-US" sz="1400" kern="1200" dirty="0"/>
            <a:t> </a:t>
          </a:r>
          <a:r>
            <a:rPr lang="en-US" sz="1400" kern="1200" dirty="0" err="1"/>
            <a:t>ideologica</a:t>
          </a:r>
          <a:r>
            <a:rPr lang="en-US" sz="1400" kern="1200" dirty="0"/>
            <a:t>.</a:t>
          </a:r>
        </a:p>
      </dsp:txBody>
      <dsp:txXfrm>
        <a:off x="5709819" y="1629733"/>
        <a:ext cx="2135626" cy="132600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2A25C9-4B98-4B4E-BD58-3060BC759476}">
      <dsp:nvSpPr>
        <dsp:cNvPr id="0" name=""/>
        <dsp:cNvSpPr/>
      </dsp:nvSpPr>
      <dsp:spPr>
        <a:xfrm>
          <a:off x="962" y="1049272"/>
          <a:ext cx="3754654" cy="2252792"/>
        </a:xfrm>
        <a:prstGeom prst="rect">
          <a:avLst/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 un lato, abbiamo una </a:t>
          </a:r>
          <a:r>
            <a:rPr lang="en-US" sz="1500" b="1" kern="1200"/>
            <a:t>Modularità strutturale estrema (0.81)</a:t>
          </a:r>
          <a:r>
            <a:rPr lang="en-US" sz="1500" kern="1200"/>
            <a:t>: la rete è fisicamente frammentata. Dall'altro lato, abbiamo una </a:t>
          </a:r>
          <a:r>
            <a:rPr lang="en-US" sz="1500" b="1" kern="1200"/>
            <a:t>Polarizzazione ideologica netta (0.50)</a:t>
          </a:r>
          <a:r>
            <a:rPr lang="en-US" sz="1500" kern="1200"/>
            <a:t> e un livello di tossicità altissimo.</a:t>
          </a:r>
        </a:p>
      </dsp:txBody>
      <dsp:txXfrm>
        <a:off x="962" y="1049272"/>
        <a:ext cx="3754654" cy="2252792"/>
      </dsp:txXfrm>
    </dsp:sp>
    <dsp:sp modelId="{AA6DBE7D-4683-A045-B328-38E1BADB9E95}">
      <dsp:nvSpPr>
        <dsp:cNvPr id="0" name=""/>
        <dsp:cNvSpPr/>
      </dsp:nvSpPr>
      <dsp:spPr>
        <a:xfrm>
          <a:off x="4131082" y="1049272"/>
          <a:ext cx="3754654" cy="2252792"/>
        </a:xfrm>
        <a:prstGeom prst="rect">
          <a:avLst/>
        </a:prstGeom>
        <a:gradFill rotWithShape="1">
          <a:gsLst>
            <a:gs pos="0">
              <a:schemeClr val="accent3">
                <a:satMod val="103000"/>
                <a:lumMod val="102000"/>
                <a:tint val="94000"/>
              </a:schemeClr>
            </a:gs>
            <a:gs pos="50000">
              <a:schemeClr val="accent3">
                <a:satMod val="110000"/>
                <a:lumMod val="100000"/>
                <a:shade val="100000"/>
              </a:schemeClr>
            </a:gs>
            <a:gs pos="100000">
              <a:schemeClr val="accent3"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/>
          </a:solidFill>
          <a:prstDash val="solid"/>
          <a:miter lim="800000"/>
        </a:ln>
        <a:effectLst/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 </a:t>
          </a:r>
          <a:r>
            <a:rPr lang="en-US" sz="1500" kern="1200" dirty="0" err="1"/>
            <a:t>risposta</a:t>
          </a:r>
          <a:r>
            <a:rPr lang="en-US" sz="1500" kern="1200" dirty="0"/>
            <a:t> </a:t>
          </a:r>
          <a:r>
            <a:rPr lang="en-US" sz="1500" kern="1200" dirty="0" err="1"/>
            <a:t>è</a:t>
          </a:r>
          <a:r>
            <a:rPr lang="en-US" sz="1500" kern="1200" dirty="0"/>
            <a:t> </a:t>
          </a:r>
          <a:r>
            <a:rPr lang="en-US" sz="1500" kern="1200" dirty="0" err="1"/>
            <a:t>che</a:t>
          </a:r>
          <a:r>
            <a:rPr lang="en-US" sz="1500" kern="1200" dirty="0"/>
            <a:t> la </a:t>
          </a:r>
          <a:r>
            <a:rPr lang="en-US" sz="1500" kern="1200" dirty="0" err="1"/>
            <a:t>polarizzazione</a:t>
          </a:r>
          <a:r>
            <a:rPr lang="en-US" sz="1500" kern="1200" dirty="0"/>
            <a:t> </a:t>
          </a:r>
          <a:r>
            <a:rPr lang="en-US" sz="1500" kern="1200" dirty="0" err="1"/>
            <a:t>odierna</a:t>
          </a:r>
          <a:r>
            <a:rPr lang="en-US" sz="1500" kern="1200" dirty="0"/>
            <a:t> non </a:t>
          </a:r>
          <a:r>
            <a:rPr lang="en-US" sz="1500" kern="1200" dirty="0" err="1"/>
            <a:t>si</a:t>
          </a:r>
          <a:r>
            <a:rPr lang="en-US" sz="1500" kern="1200" dirty="0"/>
            <a:t> </a:t>
          </a:r>
          <a:r>
            <a:rPr lang="en-US" sz="1500" kern="1200" dirty="0" err="1"/>
            <a:t>basa</a:t>
          </a:r>
          <a:r>
            <a:rPr lang="en-US" sz="1500" kern="1200" dirty="0"/>
            <a:t> </a:t>
          </a:r>
          <a:r>
            <a:rPr lang="en-US" sz="1500" kern="1200" dirty="0" err="1"/>
            <a:t>sul</a:t>
          </a:r>
          <a:r>
            <a:rPr lang="en-US" sz="1500" kern="1200" dirty="0"/>
            <a:t> </a:t>
          </a:r>
          <a:r>
            <a:rPr lang="en-US" sz="1500" kern="1200" dirty="0" err="1"/>
            <a:t>confronto</a:t>
          </a:r>
          <a:r>
            <a:rPr lang="en-US" sz="1500" kern="1200" dirty="0"/>
            <a:t> </a:t>
          </a:r>
          <a:r>
            <a:rPr lang="en-US" sz="1500" kern="1200" dirty="0" err="1"/>
            <a:t>diretto</a:t>
          </a:r>
          <a:r>
            <a:rPr lang="en-US" sz="1500" kern="1200" dirty="0"/>
            <a:t>, ma </a:t>
          </a:r>
          <a:r>
            <a:rPr lang="en-US" sz="1500" kern="1200" dirty="0" err="1"/>
            <a:t>sull'</a:t>
          </a:r>
          <a:r>
            <a:rPr lang="en-US" sz="1500" b="1" kern="1200" dirty="0" err="1"/>
            <a:t>Out</a:t>
          </a:r>
          <a:r>
            <a:rPr lang="en-US" sz="1500" b="1" kern="1200" dirty="0"/>
            <a:t>-group derogation</a:t>
          </a:r>
          <a:r>
            <a:rPr lang="en-US" sz="1500" kern="1200" dirty="0"/>
            <a:t>. I </a:t>
          </a:r>
          <a:r>
            <a:rPr lang="en-US" sz="1500" kern="1200" dirty="0" err="1"/>
            <a:t>modelli</a:t>
          </a:r>
          <a:r>
            <a:rPr lang="en-US" sz="1500" kern="1200" dirty="0"/>
            <a:t> di </a:t>
          </a:r>
          <a:r>
            <a:rPr lang="en-US" sz="1500" kern="1200" dirty="0" err="1"/>
            <a:t>Intelligenza</a:t>
          </a:r>
          <a:r>
            <a:rPr lang="en-US" sz="1500" kern="1200" dirty="0"/>
            <a:t> </a:t>
          </a:r>
          <a:r>
            <a:rPr lang="en-US" sz="1500" kern="1200" dirty="0" err="1"/>
            <a:t>Artificiale</a:t>
          </a:r>
          <a:r>
            <a:rPr lang="en-US" sz="1500" kern="1200" dirty="0"/>
            <a:t> </a:t>
          </a:r>
          <a:r>
            <a:rPr lang="en-US" sz="1500" kern="1200" dirty="0" err="1"/>
            <a:t>rilevano</a:t>
          </a:r>
          <a:r>
            <a:rPr lang="en-US" sz="1500" kern="1200" dirty="0"/>
            <a:t> un </a:t>
          </a:r>
          <a:r>
            <a:rPr lang="en-US" sz="1500" kern="1200" dirty="0" err="1"/>
            <a:t>linguaggio</a:t>
          </a:r>
          <a:r>
            <a:rPr lang="en-US" sz="1500" kern="1200" dirty="0"/>
            <a:t> </a:t>
          </a:r>
          <a:r>
            <a:rPr lang="en-US" sz="1500" kern="1200" dirty="0" err="1"/>
            <a:t>violento</a:t>
          </a:r>
          <a:r>
            <a:rPr lang="en-US" sz="1500" kern="1200" dirty="0"/>
            <a:t> non </a:t>
          </a:r>
          <a:r>
            <a:rPr lang="en-US" sz="1500" kern="1200" dirty="0" err="1"/>
            <a:t>perché</a:t>
          </a:r>
          <a:r>
            <a:rPr lang="en-US" sz="1500" kern="1200" dirty="0"/>
            <a:t> le </a:t>
          </a:r>
          <a:r>
            <a:rPr lang="en-US" sz="1500" kern="1200" dirty="0" err="1"/>
            <a:t>fazioni</a:t>
          </a:r>
          <a:r>
            <a:rPr lang="en-US" sz="1500" kern="1200" dirty="0"/>
            <a:t> </a:t>
          </a:r>
          <a:r>
            <a:rPr lang="en-US" sz="1500" kern="1200" dirty="0" err="1"/>
            <a:t>stiano</a:t>
          </a:r>
          <a:r>
            <a:rPr lang="en-US" sz="1500" kern="1200" dirty="0"/>
            <a:t> </a:t>
          </a:r>
          <a:r>
            <a:rPr lang="en-US" sz="1500" kern="1200" dirty="0" err="1"/>
            <a:t>dialogando</a:t>
          </a:r>
          <a:r>
            <a:rPr lang="en-US" sz="1500" kern="1200" dirty="0"/>
            <a:t> </a:t>
          </a:r>
          <a:r>
            <a:rPr lang="en-US" sz="1500" kern="1200" dirty="0" err="1"/>
            <a:t>tra</a:t>
          </a:r>
          <a:r>
            <a:rPr lang="en-US" sz="1500" kern="1200" dirty="0"/>
            <a:t> loro, ma </a:t>
          </a:r>
          <a:r>
            <a:rPr lang="en-US" sz="1500" kern="1200" dirty="0" err="1"/>
            <a:t>perché</a:t>
          </a:r>
          <a:r>
            <a:rPr lang="en-US" sz="1500" kern="1200" dirty="0"/>
            <a:t> </a:t>
          </a:r>
          <a:r>
            <a:rPr lang="en-US" sz="1500" kern="1200" dirty="0" err="1"/>
            <a:t>usano</a:t>
          </a:r>
          <a:r>
            <a:rPr lang="en-US" sz="1500" kern="1200" dirty="0"/>
            <a:t> </a:t>
          </a:r>
          <a:r>
            <a:rPr lang="en-US" sz="1500" kern="1200" dirty="0" err="1"/>
            <a:t>i</a:t>
          </a:r>
          <a:r>
            <a:rPr lang="en-US" sz="1500" kern="1200" dirty="0"/>
            <a:t> </a:t>
          </a:r>
          <a:r>
            <a:rPr lang="en-US" sz="1500" kern="1200" dirty="0" err="1"/>
            <a:t>propri</a:t>
          </a:r>
          <a:r>
            <a:rPr lang="en-US" sz="1500" kern="1200" dirty="0"/>
            <a:t> </a:t>
          </a:r>
          <a:r>
            <a:rPr lang="en-US" sz="1500" kern="1200" dirty="0" err="1"/>
            <a:t>spazi</a:t>
          </a:r>
          <a:r>
            <a:rPr lang="en-US" sz="1500" kern="1200" dirty="0"/>
            <a:t> </a:t>
          </a:r>
          <a:r>
            <a:rPr lang="en-US" sz="1500" kern="1200" dirty="0" err="1"/>
            <a:t>isolati</a:t>
          </a:r>
          <a:r>
            <a:rPr lang="en-US" sz="1500" kern="1200" dirty="0"/>
            <a:t> per </a:t>
          </a:r>
          <a:r>
            <a:rPr lang="en-US" sz="1500" kern="1200" dirty="0" err="1"/>
            <a:t>deridere</a:t>
          </a:r>
          <a:r>
            <a:rPr lang="en-US" sz="1500" kern="1200" dirty="0"/>
            <a:t> e </a:t>
          </a:r>
          <a:r>
            <a:rPr lang="en-US" sz="1500" kern="1200" dirty="0" err="1"/>
            <a:t>delegittimare</a:t>
          </a:r>
          <a:r>
            <a:rPr lang="en-US" sz="1500" kern="1200" dirty="0"/>
            <a:t> </a:t>
          </a:r>
          <a:r>
            <a:rPr lang="en-US" sz="1500" kern="1200" dirty="0" err="1"/>
            <a:t>l'avversario</a:t>
          </a:r>
          <a:r>
            <a:rPr lang="en-US" sz="1500" kern="1200" dirty="0"/>
            <a:t> </a:t>
          </a:r>
          <a:r>
            <a:rPr lang="en-US" sz="1500" kern="1200" dirty="0" err="1"/>
            <a:t>assente</a:t>
          </a:r>
          <a:r>
            <a:rPr lang="en-US" sz="1500" kern="1200" dirty="0"/>
            <a:t>, </a:t>
          </a:r>
          <a:r>
            <a:rPr lang="en-US" sz="1500" kern="1200" dirty="0" err="1"/>
            <a:t>utilizzando</a:t>
          </a:r>
          <a:r>
            <a:rPr lang="en-US" sz="1500" kern="1200" dirty="0"/>
            <a:t> '</a:t>
          </a:r>
          <a:r>
            <a:rPr lang="en-US" sz="1500" kern="1200" dirty="0" err="1"/>
            <a:t>vocabolari</a:t>
          </a:r>
          <a:r>
            <a:rPr lang="en-US" sz="1500" kern="1200" dirty="0"/>
            <a:t> </a:t>
          </a:r>
          <a:r>
            <a:rPr lang="en-US" sz="1500" kern="1200" dirty="0" err="1"/>
            <a:t>identitari</a:t>
          </a:r>
          <a:r>
            <a:rPr lang="en-US" sz="1500" kern="1200" dirty="0"/>
            <a:t>' </a:t>
          </a:r>
          <a:r>
            <a:rPr lang="en-US" sz="1500" kern="1200" dirty="0" err="1"/>
            <a:t>totalmente</a:t>
          </a:r>
          <a:r>
            <a:rPr lang="en-US" sz="1500" kern="1200" dirty="0"/>
            <a:t> </a:t>
          </a:r>
          <a:r>
            <a:rPr lang="en-US" sz="1500" kern="1200" dirty="0" err="1"/>
            <a:t>incompatibili</a:t>
          </a:r>
          <a:r>
            <a:rPr lang="en-US" sz="1500" kern="1200" dirty="0"/>
            <a:t>.</a:t>
          </a:r>
        </a:p>
      </dsp:txBody>
      <dsp:txXfrm>
        <a:off x="4131082" y="1049272"/>
        <a:ext cx="3754654" cy="225279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38C05E-86D0-4447-A0A6-DC9847D4AA17}">
      <dsp:nvSpPr>
        <dsp:cNvPr id="0" name=""/>
        <dsp:cNvSpPr/>
      </dsp:nvSpPr>
      <dsp:spPr>
        <a:xfrm>
          <a:off x="6931" y="902240"/>
          <a:ext cx="2071799" cy="254685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Alla luce dei limiti fisiologici degli attuali algoritmi, le direzioni future della ricerca puntano a un'IA più sofisticata:</a:t>
          </a:r>
        </a:p>
      </dsp:txBody>
      <dsp:txXfrm>
        <a:off x="67612" y="962921"/>
        <a:ext cx="1950437" cy="2425494"/>
      </dsp:txXfrm>
    </dsp:sp>
    <dsp:sp modelId="{6F7E575F-00D8-FA43-961F-C02F3D245AA4}">
      <dsp:nvSpPr>
        <dsp:cNvPr id="0" name=""/>
        <dsp:cNvSpPr/>
      </dsp:nvSpPr>
      <dsp:spPr>
        <a:xfrm>
          <a:off x="2285910" y="1918765"/>
          <a:ext cx="439221" cy="5138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2285910" y="2021526"/>
        <a:ext cx="307455" cy="308284"/>
      </dsp:txXfrm>
    </dsp:sp>
    <dsp:sp modelId="{AE488630-1DCF-3D42-AB95-463580E640C3}">
      <dsp:nvSpPr>
        <dsp:cNvPr id="0" name=""/>
        <dsp:cNvSpPr/>
      </dsp:nvSpPr>
      <dsp:spPr>
        <a:xfrm>
          <a:off x="2907450" y="902240"/>
          <a:ext cx="2071799" cy="254685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 err="1"/>
            <a:t>Modelli</a:t>
          </a:r>
          <a:r>
            <a:rPr lang="en-US" sz="1500" b="1" kern="1200" dirty="0"/>
            <a:t> </a:t>
          </a:r>
          <a:r>
            <a:rPr lang="en-US" sz="1500" b="1" i="1" kern="1200" dirty="0"/>
            <a:t>Context-Aware</a:t>
          </a:r>
          <a:r>
            <a:rPr lang="en-US" sz="1500" b="1" kern="1200" dirty="0"/>
            <a:t> (</a:t>
          </a:r>
          <a:r>
            <a:rPr lang="en-US" sz="1500" b="1" kern="1200" dirty="0" err="1"/>
            <a:t>Topologici</a:t>
          </a:r>
          <a:r>
            <a:rPr lang="en-US" sz="1500" b="1" kern="1200" dirty="0"/>
            <a:t>):</a:t>
          </a:r>
          <a:r>
            <a:rPr lang="en-US" sz="1500" kern="1200" dirty="0"/>
            <a:t> </a:t>
          </a:r>
          <a:r>
            <a:rPr lang="en-US" sz="1500" kern="1200" dirty="0" err="1"/>
            <a:t>Integrare</a:t>
          </a:r>
          <a:r>
            <a:rPr lang="en-US" sz="1500" kern="1200" dirty="0"/>
            <a:t> la </a:t>
          </a:r>
          <a:r>
            <a:rPr lang="en-US" sz="1500" kern="1200" dirty="0" err="1"/>
            <a:t>struttura</a:t>
          </a:r>
          <a:r>
            <a:rPr lang="en-US" sz="1500" kern="1200" dirty="0"/>
            <a:t> della rete </a:t>
          </a:r>
          <a:r>
            <a:rPr lang="en-US" sz="1500" kern="1200" dirty="0" err="1"/>
            <a:t>nell'analisi</a:t>
          </a:r>
          <a:r>
            <a:rPr lang="en-US" sz="1500" kern="1200" dirty="0"/>
            <a:t> </a:t>
          </a:r>
          <a:r>
            <a:rPr lang="en-US" sz="1500" kern="1200" dirty="0" err="1"/>
            <a:t>linguistica</a:t>
          </a:r>
          <a:r>
            <a:rPr lang="en-US" sz="1500" kern="1200" dirty="0"/>
            <a:t>. L'IA </a:t>
          </a:r>
          <a:r>
            <a:rPr lang="en-US" sz="1500" kern="1200" dirty="0" err="1"/>
            <a:t>deve</a:t>
          </a:r>
          <a:r>
            <a:rPr lang="en-US" sz="1500" kern="1200" dirty="0"/>
            <a:t> </a:t>
          </a:r>
          <a:r>
            <a:rPr lang="en-US" sz="1500" kern="1200" dirty="0" err="1"/>
            <a:t>capire</a:t>
          </a:r>
          <a:r>
            <a:rPr lang="en-US" sz="1500" kern="1200" dirty="0"/>
            <a:t> il </a:t>
          </a:r>
          <a:r>
            <a:rPr lang="en-US" sz="1500" kern="1200" dirty="0" err="1"/>
            <a:t>contesto</a:t>
          </a:r>
          <a:r>
            <a:rPr lang="en-US" sz="1500" kern="1200" dirty="0"/>
            <a:t> </a:t>
          </a:r>
          <a:r>
            <a:rPr lang="en-US" sz="1500" kern="1200" dirty="0" err="1"/>
            <a:t>sociale</a:t>
          </a:r>
          <a:r>
            <a:rPr lang="en-US" sz="1500" kern="1200" dirty="0"/>
            <a:t> per </a:t>
          </a:r>
          <a:r>
            <a:rPr lang="en-US" sz="1500" kern="1200" dirty="0" err="1"/>
            <a:t>distinguere</a:t>
          </a:r>
          <a:r>
            <a:rPr lang="en-US" sz="1500" kern="1200" dirty="0"/>
            <a:t> un </a:t>
          </a:r>
          <a:r>
            <a:rPr lang="en-US" sz="1500" kern="1200" dirty="0" err="1"/>
            <a:t>attacco</a:t>
          </a:r>
          <a:r>
            <a:rPr lang="en-US" sz="1500" kern="1200" dirty="0"/>
            <a:t> </a:t>
          </a:r>
          <a:r>
            <a:rPr lang="en-US" sz="1500" kern="1200" dirty="0" err="1"/>
            <a:t>diretto</a:t>
          </a:r>
          <a:r>
            <a:rPr lang="en-US" sz="1500" kern="1200" dirty="0"/>
            <a:t> (verso </a:t>
          </a:r>
          <a:r>
            <a:rPr lang="en-US" sz="1500" kern="1200" dirty="0" err="1"/>
            <a:t>l'esterno</a:t>
          </a:r>
          <a:r>
            <a:rPr lang="en-US" sz="1500" kern="1200" dirty="0"/>
            <a:t>) </a:t>
          </a:r>
          <a:r>
            <a:rPr lang="en-US" sz="1500" kern="1200" dirty="0" err="1"/>
            <a:t>dall</a:t>
          </a:r>
          <a:r>
            <a:rPr lang="en-US" sz="1500" kern="1200" dirty="0"/>
            <a:t>'"</a:t>
          </a:r>
          <a:r>
            <a:rPr lang="en-US" sz="1500" kern="1200" dirty="0" err="1"/>
            <a:t>odio</a:t>
          </a:r>
          <a:r>
            <a:rPr lang="en-US" sz="1500" kern="1200" dirty="0"/>
            <a:t> </a:t>
          </a:r>
          <a:r>
            <a:rPr lang="en-US" sz="1500" kern="1200" dirty="0" err="1"/>
            <a:t>condiviso</a:t>
          </a:r>
          <a:r>
            <a:rPr lang="en-US" sz="1500" kern="1200" dirty="0"/>
            <a:t>" </a:t>
          </a:r>
          <a:r>
            <a:rPr lang="en-US" sz="1500" kern="1200" dirty="0" err="1"/>
            <a:t>usato</a:t>
          </a:r>
          <a:r>
            <a:rPr lang="en-US" sz="1500" kern="1200" dirty="0"/>
            <a:t> per </a:t>
          </a:r>
          <a:r>
            <a:rPr lang="en-US" sz="1500" kern="1200" dirty="0" err="1"/>
            <a:t>compattare</a:t>
          </a:r>
          <a:r>
            <a:rPr lang="en-US" sz="1500" kern="1200" dirty="0"/>
            <a:t> la propria </a:t>
          </a:r>
          <a:r>
            <a:rPr lang="en-US" sz="1500" kern="1200" dirty="0" err="1"/>
            <a:t>bolla</a:t>
          </a:r>
          <a:r>
            <a:rPr lang="en-US" sz="1500" kern="1200" dirty="0"/>
            <a:t>.</a:t>
          </a:r>
        </a:p>
      </dsp:txBody>
      <dsp:txXfrm>
        <a:off x="2968131" y="962921"/>
        <a:ext cx="1950437" cy="2425494"/>
      </dsp:txXfrm>
    </dsp:sp>
    <dsp:sp modelId="{B5B9E4B0-E5A1-914F-94DC-A0E73BFDF2BC}">
      <dsp:nvSpPr>
        <dsp:cNvPr id="0" name=""/>
        <dsp:cNvSpPr/>
      </dsp:nvSpPr>
      <dsp:spPr>
        <a:xfrm>
          <a:off x="5186429" y="1918765"/>
          <a:ext cx="439221" cy="5138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186429" y="2021526"/>
        <a:ext cx="307455" cy="308284"/>
      </dsp:txXfrm>
    </dsp:sp>
    <dsp:sp modelId="{67394828-6A7B-234D-B9EE-FF0CAD93ECCD}">
      <dsp:nvSpPr>
        <dsp:cNvPr id="0" name=""/>
        <dsp:cNvSpPr/>
      </dsp:nvSpPr>
      <dsp:spPr>
        <a:xfrm>
          <a:off x="5807969" y="902240"/>
          <a:ext cx="2071799" cy="254685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Riconoscimento dell'Ironia e del Sarcasmo:</a:t>
          </a:r>
          <a:r>
            <a:rPr lang="en-US" sz="1500" kern="1200"/>
            <a:t> Superare il calcolo letterale del testo, addestrando l'algoritmo a cogliere le sfumature derisorie e ironiche (fisiologiche nel dibattito politico) che oggi causano errori di classificazione.</a:t>
          </a:r>
        </a:p>
      </dsp:txBody>
      <dsp:txXfrm>
        <a:off x="5868650" y="962921"/>
        <a:ext cx="1950437" cy="24254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2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42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77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4921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93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94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44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249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31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89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63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F7DF88-6D47-7B03-F8F9-72D80535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7672376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F7DF88-6D47-7B03-F8F9-72D80535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558871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F7DF88-6D47-7B03-F8F9-72D80535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517993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F7DF88-6D47-7B03-F8F9-72D80535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104338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F7DF88-6D47-7B03-F8F9-72D80535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2688498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F7DF88-6D47-7B03-F8F9-72D80535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4159115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F7DF88-6D47-7B03-F8F9-72D80535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6383810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F7DF88-6D47-7B03-F8F9-72D80535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6947892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F7DF88-6D47-7B03-F8F9-72D80535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12264410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9F7DF88-6D47-7B03-F8F9-72D80535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2308809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50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sv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7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6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pPr algn="ctr"/>
            <a:r>
              <a:rPr lang="it-IT" dirty="0"/>
              <a:t>Dinamiche di Polarizzazione Digitale: Woke vs anti-Woke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628650" y="1940313"/>
            <a:ext cx="7886700" cy="3791414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Un'analisi multidimensionale del confronto ideologico tra narrazioni contrapposte.</a:t>
            </a:r>
          </a:p>
          <a:p>
            <a:pPr marL="0" indent="0">
              <a:buNone/>
            </a:pPr>
            <a:r>
              <a:rPr lang="it-IT" dirty="0"/>
              <a:t>Social Network Analysis (SNA) &amp; Natural Language Processing (NLP).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		Candidato: Riccardo Baldo</a:t>
            </a:r>
          </a:p>
          <a:p>
            <a:pPr marL="0" indent="0">
              <a:buNone/>
            </a:pPr>
            <a:r>
              <a:rPr lang="it-IT" dirty="0"/>
              <a:t>		Matricola: 33036A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1348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Research Questions: </a:t>
            </a:r>
            <a:r>
              <a:rPr lang="en-GB" dirty="0" err="1"/>
              <a:t>Struttura</a:t>
            </a:r>
            <a:r>
              <a:rPr lang="en-GB" dirty="0"/>
              <a:t> vs </a:t>
            </a:r>
            <a:r>
              <a:rPr lang="en-GB" dirty="0" err="1"/>
              <a:t>Dinamica</a:t>
            </a:r>
            <a:r>
              <a:rPr lang="en-GB" dirty="0"/>
              <a:t> e Machine Learning Tasks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E962A011-2B63-829D-6514-924FAEEF0E5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828497408"/>
              </p:ext>
            </p:extLst>
          </p:nvPr>
        </p:nvGraphicFramePr>
        <p:xfrm>
          <a:off x="457200" y="196691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" name="Graphic 15" descr="Artificial Intelligence outline">
            <a:extLst>
              <a:ext uri="{FF2B5EF4-FFF2-40B4-BE49-F238E27FC236}">
                <a16:creationId xmlns:a16="http://schemas.microsoft.com/office/drawing/2014/main" id="{AF5DD9A8-F4FE-9135-0CF3-59C6F9B709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9734" y="5544337"/>
            <a:ext cx="664247" cy="66424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7D4D70-57AA-53F2-BF38-B52C0D42109E}"/>
              </a:ext>
            </a:extLst>
          </p:cNvPr>
          <p:cNvSpPr txBox="1"/>
          <p:nvPr/>
        </p:nvSpPr>
        <p:spPr>
          <a:xfrm>
            <a:off x="2046514" y="5167311"/>
            <a:ext cx="571500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500" dirty="0"/>
              <a:t>Machine Learning Tasks: </a:t>
            </a:r>
            <a:r>
              <a:rPr lang="en-IT" sz="2500" dirty="0"/>
              <a:t>Random Forest</a:t>
            </a:r>
            <a:endParaRPr lang="en-GB" sz="2500" dirty="0"/>
          </a:p>
          <a:p>
            <a:endParaRPr lang="it-IT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4001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RQ1 - Data Collection: Dallo Scraper alla Rete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51E8A7-5149-4715-ED4F-92A071D14D5E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385494441"/>
              </p:ext>
            </p:extLst>
          </p:nvPr>
        </p:nvGraphicFramePr>
        <p:xfrm>
          <a:off x="628650" y="1870230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RQ1 - Network Structure: </a:t>
            </a:r>
            <a:r>
              <a:rPr lang="en-GB" dirty="0" err="1"/>
              <a:t>Costruzione</a:t>
            </a:r>
            <a:r>
              <a:rPr lang="en-GB" dirty="0"/>
              <a:t> del </a:t>
            </a:r>
            <a:r>
              <a:rPr lang="en-GB" dirty="0" err="1"/>
              <a:t>Grafo</a:t>
            </a:r>
            <a:endParaRPr lang="en-GB" dirty="0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876BE487-30C8-38EC-257C-B0A54917F0A5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867850245"/>
              </p:ext>
            </p:extLst>
          </p:nvPr>
        </p:nvGraphicFramePr>
        <p:xfrm>
          <a:off x="0" y="1825625"/>
          <a:ext cx="3114675" cy="4303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F0332A20-F67B-4233-39BF-A71A1AB24D7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089" t="11772" r="8177" b="6216"/>
          <a:stretch>
            <a:fillRect/>
          </a:stretch>
        </p:blipFill>
        <p:spPr>
          <a:xfrm>
            <a:off x="3390896" y="2207941"/>
            <a:ext cx="5276861" cy="3679902"/>
          </a:xfrm>
          <a:prstGeom prst="rect">
            <a:avLst/>
          </a:prstGeom>
          <a:effectLst>
            <a:outerShdw blurRad="635000" dist="50800" sx="105000" sy="105000" algn="ctr" rotWithShape="0">
              <a:schemeClr val="accent1"/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en-GB" dirty="0"/>
              <a:t>RQ1 - Clustering: </a:t>
            </a:r>
            <a:r>
              <a:rPr lang="en-GB" dirty="0" err="1"/>
              <a:t>Identificazione</a:t>
            </a:r>
            <a:r>
              <a:rPr lang="en-GB" dirty="0"/>
              <a:t> delle communities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58F55DBF-76DA-B95D-922A-A1AC149169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1857693"/>
              </p:ext>
            </p:extLst>
          </p:nvPr>
        </p:nvGraphicFramePr>
        <p:xfrm>
          <a:off x="293078" y="1916295"/>
          <a:ext cx="2977660" cy="3038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2" name="Picture 21">
            <a:extLst>
              <a:ext uri="{FF2B5EF4-FFF2-40B4-BE49-F238E27FC236}">
                <a16:creationId xmlns:a16="http://schemas.microsoft.com/office/drawing/2014/main" id="{DF2636BE-2A36-8FC5-2C0A-2A00E8DDE32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723864" y="1916294"/>
            <a:ext cx="4861931" cy="3038706"/>
          </a:xfrm>
          <a:prstGeom prst="rect">
            <a:avLst/>
          </a:prstGeom>
          <a:effectLst>
            <a:outerShdw blurRad="635000" sx="105000" sy="105000" algn="ctr" rotWithShape="0">
              <a:schemeClr val="accent1"/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A62239D-A083-8569-3A7E-E40F02AF676C}"/>
              </a:ext>
            </a:extLst>
          </p:cNvPr>
          <p:cNvSpPr txBox="1"/>
          <p:nvPr/>
        </p:nvSpPr>
        <p:spPr>
          <a:xfrm>
            <a:off x="628651" y="5216769"/>
            <a:ext cx="7886699" cy="1532334"/>
          </a:xfrm>
          <a:prstGeom prst="round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IT" sz="1400" b="1" dirty="0">
                <a:solidFill>
                  <a:schemeClr val="bg1"/>
                </a:solidFill>
              </a:rPr>
              <a:t>Analisi Densità delle Top 5 Community </a:t>
            </a:r>
          </a:p>
          <a:p>
            <a:pPr marL="171450" indent="-171450">
              <a:buFontTx/>
              <a:buChar char="-"/>
            </a:pPr>
            <a:r>
              <a:rPr lang="en-IT" sz="1400" dirty="0">
                <a:solidFill>
                  <a:schemeClr val="bg1"/>
                </a:solidFill>
              </a:rPr>
              <a:t>Community 5 (975 utenti): -&gt; Relazioni Uniche (Undirected): 1568 archi | Densità = 0.003302 </a:t>
            </a:r>
          </a:p>
          <a:p>
            <a:pPr marL="171450" indent="-171450">
              <a:buFontTx/>
              <a:buChar char="-"/>
            </a:pPr>
            <a:r>
              <a:rPr lang="en-IT" sz="1400" dirty="0">
                <a:solidFill>
                  <a:schemeClr val="bg1"/>
                </a:solidFill>
              </a:rPr>
              <a:t>Community 41 (889 utenti): -&gt; Relazioni Uniche (Undirected): 1106 archi | Densità = 0.002802 </a:t>
            </a:r>
          </a:p>
          <a:p>
            <a:pPr marL="171450" indent="-171450">
              <a:buFontTx/>
              <a:buChar char="-"/>
            </a:pPr>
            <a:r>
              <a:rPr lang="en-IT" sz="1400" dirty="0">
                <a:solidFill>
                  <a:schemeClr val="bg1"/>
                </a:solidFill>
              </a:rPr>
              <a:t>Community 40 (808 utenti): -&gt; Relazioni Uniche (Undirected): 861 archi | Densità = 0.002641 </a:t>
            </a:r>
          </a:p>
          <a:p>
            <a:pPr marL="171450" indent="-171450">
              <a:buFontTx/>
              <a:buChar char="-"/>
            </a:pPr>
            <a:r>
              <a:rPr lang="en-IT" sz="1400" dirty="0">
                <a:solidFill>
                  <a:schemeClr val="bg1"/>
                </a:solidFill>
              </a:rPr>
              <a:t>Community 35 (728 utenti): -&gt; Relazioni Uniche (Undirected): 826 archi | Densità = 0.003121 </a:t>
            </a:r>
          </a:p>
          <a:p>
            <a:pPr marL="171450" indent="-171450">
              <a:buFontTx/>
              <a:buChar char="-"/>
            </a:pPr>
            <a:r>
              <a:rPr lang="en-IT" sz="1400" dirty="0">
                <a:solidFill>
                  <a:schemeClr val="bg1"/>
                </a:solidFill>
              </a:rPr>
              <a:t>Community 1 (697 utenti): -&gt; Relazioni Uniche (Undirected): 894 archi | Densità = 0.003686</a:t>
            </a:r>
            <a:endParaRPr lang="it-IT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F3696-EA02-9F81-67DD-255AD1965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7595-DC40-8FD1-9ABA-47E07A69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RQ1 - Network Analysis: La Legge di Potenza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79D75E-66DC-F953-7890-ABB4AA3DBC71}"/>
                  </a:ext>
                </a:extLst>
              </p:cNvPr>
              <p:cNvSpPr>
                <a:spLocks noGrp="1"/>
              </p:cNvSpPr>
              <p:nvPr>
                <p:ph idx="4294967295"/>
              </p:nvPr>
            </p:nvSpPr>
            <p:spPr>
              <a:xfrm>
                <a:off x="6284534" y="4983638"/>
                <a:ext cx="2587083" cy="1509235"/>
              </a:xfrm>
              <a:prstGeom prst="roundRect">
                <a:avLst/>
              </a:prstGeom>
              <a:gradFill>
                <a:lin ang="5400000" scaled="0"/>
              </a:gradFill>
              <a:ln/>
              <a:effectLst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0000">
                <a:noAutofit/>
              </a:bodyPr>
              <a:lstStyle/>
              <a:p>
                <a:r>
                  <a:rPr lang="en-IT" sz="1600" i="1" dirty="0">
                    <a:latin typeface="+mj-lt"/>
                  </a:rPr>
                  <a:t>Nodi</a:t>
                </a:r>
                <a:r>
                  <a:rPr lang="en-IT" sz="1600" dirty="0">
                    <a:latin typeface="+mj-lt"/>
                  </a:rPr>
                  <a:t> </a:t>
                </a:r>
                <a:r>
                  <a:rPr lang="en-IT" sz="1600" i="1" dirty="0">
                    <a:latin typeface="+mj-lt"/>
                  </a:rPr>
                  <a:t>(N)</a:t>
                </a:r>
                <a:r>
                  <a:rPr lang="en-IT" sz="1600" dirty="0">
                    <a:latin typeface="+mj-lt"/>
                  </a:rPr>
                  <a:t>: </a:t>
                </a:r>
                <a:r>
                  <a:rPr lang="en-IT" sz="1600" dirty="0"/>
                  <a:t>32443</a:t>
                </a:r>
                <a:r>
                  <a:rPr lang="en-IT" sz="1600" dirty="0">
                    <a:latin typeface="+mj-lt"/>
                  </a:rPr>
                  <a:t> </a:t>
                </a:r>
              </a:p>
              <a:p>
                <a:r>
                  <a:rPr lang="en-IT" sz="1600" i="1" dirty="0">
                    <a:latin typeface="+mj-lt"/>
                  </a:rPr>
                  <a:t>Archi (E)</a:t>
                </a:r>
                <a:r>
                  <a:rPr lang="en-IT" sz="1600" dirty="0">
                    <a:latin typeface="+mj-lt"/>
                  </a:rPr>
                  <a:t>: </a:t>
                </a:r>
                <a:r>
                  <a:rPr lang="en-IT" sz="1600" dirty="0"/>
                  <a:t>53621</a:t>
                </a:r>
                <a:endParaRPr lang="en-IT" sz="1600" i="1" dirty="0">
                  <a:latin typeface="+mj-lt"/>
                </a:endParaRPr>
              </a:p>
              <a:p>
                <a:pPr/>
                <a14:m>
                  <m:oMath xmlns:m="http://schemas.openxmlformats.org/officeDocument/2006/math">
                    <m:r>
                      <a:rPr lang="en-IT" sz="1600" b="0" i="1" smtClean="0">
                        <a:latin typeface="+mj-lt"/>
                      </a:rPr>
                      <m:t>𝑑</m:t>
                    </m:r>
                    <m:r>
                      <a:rPr lang="it-IT" sz="1600" b="0" i="1" smtClean="0">
                        <a:latin typeface="+mj-lt"/>
                      </a:rPr>
                      <m:t>𝑒𝑛𝑠𝑖𝑡</m:t>
                    </m:r>
                    <m:r>
                      <a:rPr lang="it-IT" sz="1600" b="0" i="1" smtClean="0">
                        <a:latin typeface="+mj-lt"/>
                      </a:rPr>
                      <m:t>à ≈</m:t>
                    </m:r>
                    <m:r>
                      <m:rPr>
                        <m:nor/>
                      </m:rPr>
                      <a:rPr lang="en-IT" sz="1600"/>
                      <m:t>5.09456</m:t>
                    </m:r>
                    <m:r>
                      <m:rPr>
                        <m:nor/>
                      </m:rPr>
                      <a:rPr lang="en-IT" sz="1600"/>
                      <m:t>e</m:t>
                    </m:r>
                    <m:r>
                      <m:rPr>
                        <m:nor/>
                      </m:rPr>
                      <a:rPr lang="en-IT" sz="1600"/>
                      <m:t>-05</m:t>
                    </m:r>
                  </m:oMath>
                </a14:m>
                <a:endParaRPr lang="it-IT" sz="16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IT" sz="1600" dirty="0"/>
                  <a:t>     0.000051</a:t>
                </a:r>
                <a:endParaRPr lang="en-IT" sz="1600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79D75E-66DC-F953-7890-ABB4AA3DBC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4294967295"/>
              </p:nvPr>
            </p:nvSpPr>
            <p:spPr>
              <a:xfrm>
                <a:off x="6284534" y="4983638"/>
                <a:ext cx="2587083" cy="15092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  <a:effectLst>
                <a:softEdge rad="0"/>
              </a:effectLst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0B3C2D5-ADEA-21D5-1893-737E1749B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258719"/>
            <a:ext cx="5259194" cy="3904953"/>
          </a:xfrm>
          <a:prstGeom prst="rect">
            <a:avLst/>
          </a:prstGeom>
          <a:effectLst>
            <a:outerShdw blurRad="635000" sx="105000" sy="105000" algn="ctr" rotWithShape="0">
              <a:schemeClr val="accent1"/>
            </a:outerShdw>
          </a:effectLst>
        </p:spPr>
      </p:pic>
    </p:spTree>
    <p:extLst>
      <p:ext uri="{BB962C8B-B14F-4D97-AF65-F5344CB8AC3E}">
        <p14:creationId xmlns:p14="http://schemas.microsoft.com/office/powerpoint/2010/main" val="4214997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51982-B122-DE1F-7053-C89484584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it-IT" dirty="0"/>
              <a:t>RQ1- Le 10 parole più usate nell’ecosistema delle 20 community più grandi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B0DB9A-DA1F-DF89-8542-30E25AA36E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93116" y="2236573"/>
            <a:ext cx="6757766" cy="4009166"/>
          </a:xfrm>
          <a:prstGeom prst="rect">
            <a:avLst/>
          </a:prstGeom>
          <a:effectLst>
            <a:outerShdw blurRad="635000" sx="105000" sy="105000" algn="ctr" rotWithShape="0">
              <a:schemeClr val="accent1"/>
            </a:outerShdw>
          </a:effectLst>
        </p:spPr>
      </p:pic>
    </p:spTree>
    <p:extLst>
      <p:ext uri="{BB962C8B-B14F-4D97-AF65-F5344CB8AC3E}">
        <p14:creationId xmlns:p14="http://schemas.microsoft.com/office/powerpoint/2010/main" val="1867764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en-GB" dirty="0"/>
              <a:t>RQ1 - Network Analysis: </a:t>
            </a:r>
            <a:r>
              <a:rPr lang="en-GB" dirty="0" err="1"/>
              <a:t>Misurare</a:t>
            </a:r>
            <a:r>
              <a:rPr lang="en-GB" dirty="0"/>
              <a:t> la </a:t>
            </a:r>
            <a:r>
              <a:rPr lang="en-GB" dirty="0" err="1"/>
              <a:t>Disuguaglianza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898995" y="3248015"/>
            <a:ext cx="2943922" cy="205740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IT" sz="1700" dirty="0"/>
              <a:t>l coefficiente di Gini (0.89266) certifica una </a:t>
            </a:r>
            <a:r>
              <a:rPr lang="en-IT" sz="1700" b="1" dirty="0"/>
              <a:t>disuguaglianza estrema</a:t>
            </a:r>
            <a:r>
              <a:rPr lang="en-IT" sz="1700" dirty="0"/>
              <a:t>: il dibattito non è orizzontale, ma è monopolizzato da una ristrettissima élite di </a:t>
            </a:r>
            <a:r>
              <a:rPr lang="en-IT" sz="1700" i="1" dirty="0"/>
              <a:t>Hub</a:t>
            </a:r>
            <a:r>
              <a:rPr lang="en-IT" sz="1700" dirty="0"/>
              <a:t> che accentra la quasi totalità delle interazioni.</a:t>
            </a:r>
            <a:endParaRPr sz="17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86F744-007E-A4B4-0CCB-BDE9827E6C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32226" y="2364604"/>
            <a:ext cx="4875659" cy="3800778"/>
          </a:xfrm>
          <a:prstGeom prst="rect">
            <a:avLst/>
          </a:prstGeom>
          <a:effectLst>
            <a:outerShdw blurRad="640139" sx="105000" sy="105000" algn="ctr" rotWithShape="0">
              <a:schemeClr val="accent1"/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087CF-5485-0610-2C04-B17C06CC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1DECD-78E5-9020-1F56-204EAF1B3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pPr algn="ctr"/>
            <a:r>
              <a:rPr lang="en-GB" dirty="0"/>
              <a:t>RQ1 - Network Analysis: </a:t>
            </a:r>
            <a:br>
              <a:rPr lang="en-GB" dirty="0"/>
            </a:br>
            <a:r>
              <a:rPr lang="en-IT" dirty="0"/>
              <a:t>I Catalizzatori del Dibattito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C3517-AE49-353E-79D9-C6DF18709F8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39006" y="2428914"/>
            <a:ext cx="7265988" cy="31466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IT" sz="1700" dirty="0"/>
              <a:t>Identificazione dei Top 5 'Thread Starters' per Out-Degree</a:t>
            </a:r>
          </a:p>
          <a:p>
            <a:pPr marL="0" indent="0">
              <a:buNone/>
            </a:pPr>
            <a:r>
              <a:rPr lang="en-IT" sz="1700" dirty="0"/>
              <a:t>A differenza degli Hub (che ricevono passivamente), questi nodi sono gli inneschi attivi delle ramificazioni più profonde </a:t>
            </a:r>
          </a:p>
          <a:p>
            <a:pPr marL="0" indent="0">
              <a:buNone/>
            </a:pPr>
            <a:endParaRPr lang="en-IT" sz="1700" dirty="0"/>
          </a:p>
          <a:p>
            <a:pPr>
              <a:buAutoNum type="arabicPeriod"/>
            </a:pPr>
            <a:r>
              <a:rPr lang="en-IT" sz="1700" dirty="0"/>
              <a:t>@crystaldsmith.bsky.social: 37 risposte generate 🏆</a:t>
            </a:r>
          </a:p>
          <a:p>
            <a:pPr>
              <a:buAutoNum type="arabicPeriod"/>
            </a:pPr>
            <a:r>
              <a:rPr lang="en-IT" sz="1700" dirty="0"/>
              <a:t>@cathy12341234.bsky.social: 30 risposte generate</a:t>
            </a:r>
          </a:p>
          <a:p>
            <a:pPr>
              <a:buAutoNum type="arabicPeriod"/>
            </a:pPr>
            <a:r>
              <a:rPr lang="en-IT" sz="1700" dirty="0"/>
              <a:t>@victorerikray.bsky.social: 28 risposte generate</a:t>
            </a:r>
          </a:p>
          <a:p>
            <a:pPr>
              <a:buAutoNum type="arabicPeriod"/>
            </a:pPr>
            <a:r>
              <a:rPr lang="en-IT" sz="1700" dirty="0"/>
              <a:t>@journeyled.bsky.social: 28 risposte generate</a:t>
            </a:r>
          </a:p>
          <a:p>
            <a:pPr>
              <a:buAutoNum type="arabicPeriod"/>
            </a:pPr>
            <a:r>
              <a:rPr lang="en-IT" sz="1700" dirty="0"/>
              <a:t>@mclovindenise.bsky.social: 25 risposte generate</a:t>
            </a:r>
            <a:endParaRPr sz="1700" dirty="0"/>
          </a:p>
        </p:txBody>
      </p:sp>
    </p:spTree>
    <p:extLst>
      <p:ext uri="{BB962C8B-B14F-4D97-AF65-F5344CB8AC3E}">
        <p14:creationId xmlns:p14="http://schemas.microsoft.com/office/powerpoint/2010/main" val="4049660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F5ABD-0B5E-0A7E-41DF-2DC45941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732F-0BBF-7352-2084-C70C224C4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r>
              <a:rPr lang="en-IT" dirty="0"/>
              <a:t>RQ1 – Network Analysis: Clustering Coefficient sulla rete globale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188C62-6348-CE6C-1B43-35F532020569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780899497"/>
              </p:ext>
            </p:extLst>
          </p:nvPr>
        </p:nvGraphicFramePr>
        <p:xfrm>
          <a:off x="769143" y="1795501"/>
          <a:ext cx="7605713" cy="4454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5182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52F9A-E534-E3AD-FED9-ACB17F44A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DE9B1-D0C7-A9F6-9EB9-B7D15D3A2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T" dirty="0"/>
              <a:t>RQ1 – Network Analysis: Propagazione dell'Informazione</a:t>
            </a: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369A56-F78E-54A2-0CD0-C7E0A9A995D4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800715634"/>
              </p:ext>
            </p:extLst>
          </p:nvPr>
        </p:nvGraphicFramePr>
        <p:xfrm>
          <a:off x="628650" y="1870230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1400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DE90-51DD-58E0-213A-6358E8787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T" dirty="0"/>
              <a:t>RQ1- I Leader Strutturali: identificazione degli Hub tramite In-Degree Centrality</a:t>
            </a:r>
            <a:endParaRPr lang="it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CF9532-0CCF-4F0F-D8E1-37E15A0DF0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02"/>
          <a:stretch>
            <a:fillRect/>
          </a:stretch>
        </p:blipFill>
        <p:spPr>
          <a:xfrm>
            <a:off x="539604" y="2669289"/>
            <a:ext cx="8064791" cy="2887449"/>
          </a:xfrm>
          <a:prstGeom prst="rect">
            <a:avLst/>
          </a:prstGeom>
          <a:effectLst>
            <a:outerShdw blurRad="635000" dist="50800" sx="105000" sy="105000" algn="ctr" rotWithShape="0">
              <a:schemeClr val="accent1"/>
            </a:outerShdw>
          </a:effectLst>
        </p:spPr>
      </p:pic>
    </p:spTree>
    <p:extLst>
      <p:ext uri="{BB962C8B-B14F-4D97-AF65-F5344CB8AC3E}">
        <p14:creationId xmlns:p14="http://schemas.microsoft.com/office/powerpoint/2010/main" val="2594832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06182-F057-BBFB-2C9C-140D3BAC5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RQ1- Validazione statistica: La significatività dell’</a:t>
            </a:r>
            <a:r>
              <a:rPr lang="it-IT" dirty="0" err="1"/>
              <a:t>assortatività</a:t>
            </a:r>
            <a:r>
              <a:rPr lang="it-IT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9CDA5E-DD8B-44C2-93A1-9F4B396C31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44058" y="2220074"/>
            <a:ext cx="6655884" cy="4113055"/>
          </a:xfrm>
          <a:prstGeom prst="rect">
            <a:avLst/>
          </a:prstGeom>
          <a:effectLst>
            <a:outerShdw blurRad="635000" sx="105000" sy="105000" algn="ctr" rotWithShape="0">
              <a:schemeClr val="accent1"/>
            </a:outerShdw>
          </a:effectLst>
        </p:spPr>
      </p:pic>
    </p:spTree>
    <p:extLst>
      <p:ext uri="{BB962C8B-B14F-4D97-AF65-F5344CB8AC3E}">
        <p14:creationId xmlns:p14="http://schemas.microsoft.com/office/powerpoint/2010/main" val="1577269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67C4D-7EF4-745B-8B49-E12AC18AD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-23467"/>
            <a:ext cx="7886700" cy="1325563"/>
          </a:xfrm>
        </p:spPr>
        <p:txBody>
          <a:bodyPr/>
          <a:lstStyle/>
          <a:p>
            <a:pPr algn="ctr"/>
            <a:r>
              <a:rPr lang="it-IT" dirty="0"/>
              <a:t>RQ2- </a:t>
            </a:r>
            <a:r>
              <a:rPr lang="en-IT" dirty="0"/>
              <a:t>Anatomia del Conflitto</a:t>
            </a:r>
            <a:endParaRPr lang="it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91581-112B-F2F0-4976-6FF9C0D012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97" b="67155"/>
          <a:stretch>
            <a:fillRect/>
          </a:stretch>
        </p:blipFill>
        <p:spPr>
          <a:xfrm>
            <a:off x="2396437" y="1690690"/>
            <a:ext cx="4351123" cy="1799622"/>
          </a:xfrm>
          <a:prstGeom prst="rect">
            <a:avLst/>
          </a:prstGeom>
          <a:effectLst>
            <a:outerShdw blurRad="635000" sx="105000" sy="105000" algn="ctr" rotWithShape="0">
              <a:schemeClr val="accent5"/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3736F7-FAA8-092F-29EE-16C73BBC88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378" b="33473"/>
          <a:stretch>
            <a:fillRect/>
          </a:stretch>
        </p:blipFill>
        <p:spPr>
          <a:xfrm>
            <a:off x="2396438" y="4267499"/>
            <a:ext cx="4351123" cy="1799623"/>
          </a:xfrm>
          <a:prstGeom prst="rect">
            <a:avLst/>
          </a:prstGeom>
          <a:effectLst>
            <a:outerShdw blurRad="635000" sx="105000" sy="105000" algn="ctr" rotWithShape="0">
              <a:schemeClr val="accent5"/>
            </a:outerShdw>
          </a:effectLst>
        </p:spPr>
      </p:pic>
    </p:spTree>
    <p:extLst>
      <p:ext uri="{BB962C8B-B14F-4D97-AF65-F5344CB8AC3E}">
        <p14:creationId xmlns:p14="http://schemas.microsoft.com/office/powerpoint/2010/main" val="208485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B81C9-D9AA-2BAB-4B78-A3D18EB82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9262"/>
            <a:ext cx="7886700" cy="1325563"/>
          </a:xfrm>
        </p:spPr>
        <p:txBody>
          <a:bodyPr/>
          <a:lstStyle/>
          <a:p>
            <a:pPr algn="ctr"/>
            <a:r>
              <a:rPr lang="it-IT" dirty="0"/>
              <a:t>RQ2- </a:t>
            </a:r>
            <a:r>
              <a:rPr lang="en-IT" dirty="0"/>
              <a:t>Anatomia del Conflitto</a:t>
            </a:r>
            <a:endParaRPr lang="it-IT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0AA2F4-93BE-95FF-3820-6A61859E97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2072"/>
          <a:stretch>
            <a:fillRect/>
          </a:stretch>
        </p:blipFill>
        <p:spPr>
          <a:xfrm>
            <a:off x="2396438" y="1478393"/>
            <a:ext cx="4351123" cy="1785531"/>
          </a:xfrm>
          <a:prstGeom prst="rect">
            <a:avLst/>
          </a:prstGeom>
          <a:effectLst>
            <a:outerShdw blurRad="635000" sx="105000" sy="105000" algn="ctr" rotWithShape="0">
              <a:schemeClr val="accent5"/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D67B9E-DA85-0750-4858-C15E0853B3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99"/>
          <a:stretch>
            <a:fillRect/>
          </a:stretch>
        </p:blipFill>
        <p:spPr>
          <a:xfrm>
            <a:off x="2396438" y="4020363"/>
            <a:ext cx="4351123" cy="2203068"/>
          </a:xfrm>
          <a:prstGeom prst="rect">
            <a:avLst/>
          </a:prstGeom>
          <a:effectLst>
            <a:outerShdw blurRad="635000" sx="105000" sy="105000" algn="ctr" rotWithShape="0">
              <a:schemeClr val="accent5"/>
            </a:outerShdw>
          </a:effectLst>
        </p:spPr>
      </p:pic>
    </p:spTree>
    <p:extLst>
      <p:ext uri="{BB962C8B-B14F-4D97-AF65-F5344CB8AC3E}">
        <p14:creationId xmlns:p14="http://schemas.microsoft.com/office/powerpoint/2010/main" val="1639306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14EDE-2724-AA26-53E7-73167800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T" dirty="0"/>
              <a:t>RQ2- I mondi linguistici: analisi dei sotto-temi e dei vocabolari identitari delle fazioni </a:t>
            </a:r>
            <a:endParaRPr lang="it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A9A60E-FA31-4979-5322-E01129AF6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04963"/>
            <a:ext cx="7772400" cy="3544214"/>
          </a:xfrm>
          <a:prstGeom prst="rect">
            <a:avLst/>
          </a:prstGeom>
          <a:effectLst>
            <a:outerShdw blurRad="635000" sx="105000" sy="105000" algn="ctr" rotWithShape="0">
              <a:schemeClr val="accent5"/>
            </a:outerShdw>
          </a:effectLst>
        </p:spPr>
      </p:pic>
    </p:spTree>
    <p:extLst>
      <p:ext uri="{BB962C8B-B14F-4D97-AF65-F5344CB8AC3E}">
        <p14:creationId xmlns:p14="http://schemas.microsoft.com/office/powerpoint/2010/main" val="144115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EEA0C-683A-94C8-9809-99BC5811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15699"/>
            <a:ext cx="78867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T" dirty="0"/>
              <a:t>RQ2- L'Impronta Emotiva: scomposizione del dibattito in 4 emozioni tramite il Radar Chart</a:t>
            </a:r>
            <a:endParaRPr lang="it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C05558-2D2C-179E-619B-1CE1191FA0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4806" r="1565" b="1"/>
          <a:stretch>
            <a:fillRect/>
          </a:stretch>
        </p:blipFill>
        <p:spPr>
          <a:xfrm>
            <a:off x="2161194" y="2409568"/>
            <a:ext cx="4821611" cy="3761462"/>
          </a:xfrm>
          <a:prstGeom prst="rect">
            <a:avLst/>
          </a:prstGeom>
          <a:effectLst>
            <a:outerShdw blurRad="635000" sx="105000" sy="105000" algn="ctr" rotWithShape="0">
              <a:schemeClr val="accent5"/>
            </a:outerShdw>
          </a:effectLst>
        </p:spPr>
      </p:pic>
    </p:spTree>
    <p:extLst>
      <p:ext uri="{BB962C8B-B14F-4D97-AF65-F5344CB8AC3E}">
        <p14:creationId xmlns:p14="http://schemas.microsoft.com/office/powerpoint/2010/main" val="3331899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8A8D9-2063-6319-E5AE-738C6E71A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T" dirty="0"/>
              <a:t>RQ2- Lo scontro cross-partisan: volumi di interazione esterna e livelli di tossicità associati</a:t>
            </a:r>
            <a:endParaRPr lang="it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6397C-9612-29FF-EFE8-369746EF6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120" y="2275298"/>
            <a:ext cx="5485759" cy="3272886"/>
          </a:xfrm>
          <a:prstGeom prst="rect">
            <a:avLst/>
          </a:prstGeom>
          <a:effectLst>
            <a:outerShdw blurRad="635000" sx="105000" sy="105000" algn="ctr" rotWithShape="0">
              <a:schemeClr val="accent5"/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4E7D83-B958-C2DD-344B-D4A4E78ABB68}"/>
              </a:ext>
            </a:extLst>
          </p:cNvPr>
          <p:cNvSpPr txBox="1"/>
          <p:nvPr/>
        </p:nvSpPr>
        <p:spPr>
          <a:xfrm>
            <a:off x="3100772" y="5846543"/>
            <a:ext cx="2942453" cy="646331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it-IT" dirty="0"/>
              <a:t>Scontro intra-</a:t>
            </a:r>
            <a:r>
              <a:rPr lang="it-IT" dirty="0" err="1"/>
              <a:t>partisan</a:t>
            </a:r>
            <a:r>
              <a:rPr lang="it-IT" dirty="0"/>
              <a:t>: 77,7%</a:t>
            </a:r>
          </a:p>
          <a:p>
            <a:r>
              <a:rPr lang="it-IT" dirty="0"/>
              <a:t>Scontro cross-</a:t>
            </a:r>
            <a:r>
              <a:rPr lang="it-IT" dirty="0" err="1"/>
              <a:t>partisan</a:t>
            </a:r>
            <a:r>
              <a:rPr lang="it-IT" dirty="0"/>
              <a:t>: 22,3%</a:t>
            </a:r>
          </a:p>
        </p:txBody>
      </p:sp>
    </p:spTree>
    <p:extLst>
      <p:ext uri="{BB962C8B-B14F-4D97-AF65-F5344CB8AC3E}">
        <p14:creationId xmlns:p14="http://schemas.microsoft.com/office/powerpoint/2010/main" val="2052818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45577-E60A-A136-EB4C-D2631A0BF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T" dirty="0"/>
              <a:t>RQ2- L'Arena dei Top-User: gli scontri diretti al vertice tra influencer</a:t>
            </a:r>
            <a:endParaRPr lang="it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DAA4AD-39B2-C574-A093-A6D19CC76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3093" y="2069155"/>
            <a:ext cx="4237814" cy="4139514"/>
          </a:xfrm>
          <a:prstGeom prst="rect">
            <a:avLst/>
          </a:prstGeom>
          <a:effectLst>
            <a:outerShdw blurRad="635000" sx="105000" sy="105000" algn="ctr" rotWithShape="0">
              <a:schemeClr val="accent5"/>
            </a:outerShdw>
          </a:effectLst>
        </p:spPr>
      </p:pic>
    </p:spTree>
    <p:extLst>
      <p:ext uri="{BB962C8B-B14F-4D97-AF65-F5344CB8AC3E}">
        <p14:creationId xmlns:p14="http://schemas.microsoft.com/office/powerpoint/2010/main" val="4233918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F77CF-DA98-1AEB-FB57-AB1E1E854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T" dirty="0"/>
              <a:t>RQ2- Dinamiche di Escalation: la relazione tra la persistenza di una discussione e il suo livello di tossicità</a:t>
            </a:r>
            <a:endParaRPr lang="it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C33FCB-07DF-9CCB-9510-46AC4C7C6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680" y="2407546"/>
            <a:ext cx="6474640" cy="3721405"/>
          </a:xfrm>
          <a:prstGeom prst="rect">
            <a:avLst/>
          </a:prstGeom>
          <a:effectLst>
            <a:outerShdw blurRad="635000" sx="105000" sy="105000" algn="ctr" rotWithShape="0">
              <a:schemeClr val="accent5"/>
            </a:outerShdw>
          </a:effectLst>
        </p:spPr>
      </p:pic>
    </p:spTree>
    <p:extLst>
      <p:ext uri="{BB962C8B-B14F-4D97-AF65-F5344CB8AC3E}">
        <p14:creationId xmlns:p14="http://schemas.microsoft.com/office/powerpoint/2010/main" val="19140309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33297-846E-EA6F-2B03-5C9071F1B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T" dirty="0"/>
              <a:t>RQ2- L'impatto degli eventi reali: come un evento potrebbe scatenare il conflitto online</a:t>
            </a:r>
            <a:endParaRPr lang="it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DC21BF-7F76-2378-6474-D58624FDB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728" y="2938521"/>
            <a:ext cx="7282543" cy="3087798"/>
          </a:xfrm>
          <a:prstGeom prst="rect">
            <a:avLst/>
          </a:prstGeom>
          <a:effectLst>
            <a:outerShdw blurRad="635000" sx="105000" sy="105000" algn="ctr" rotWithShape="0">
              <a:schemeClr val="accent5"/>
            </a:outerShdw>
          </a:effectLst>
        </p:spPr>
      </p:pic>
    </p:spTree>
    <p:extLst>
      <p:ext uri="{BB962C8B-B14F-4D97-AF65-F5344CB8AC3E}">
        <p14:creationId xmlns:p14="http://schemas.microsoft.com/office/powerpoint/2010/main" val="22794820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C3C15-7160-3B59-DB90-80781626F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it-IT" dirty="0"/>
              <a:t>RQ2- Tossicità per fazione sull’evento ‘Harvard /Claudine Gay’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081EE8-B19D-DE5A-AE72-857378679E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20"/>
          <a:stretch>
            <a:fillRect/>
          </a:stretch>
        </p:blipFill>
        <p:spPr>
          <a:xfrm>
            <a:off x="1514781" y="2767915"/>
            <a:ext cx="6114438" cy="3346388"/>
          </a:xfrm>
          <a:prstGeom prst="rect">
            <a:avLst/>
          </a:prstGeom>
          <a:effectLst>
            <a:outerShdw blurRad="635000" sx="105000" sy="105000" algn="ctr" rotWithShape="0">
              <a:schemeClr val="accent5"/>
            </a:outerShdw>
          </a:effectLst>
        </p:spPr>
      </p:pic>
    </p:spTree>
    <p:extLst>
      <p:ext uri="{BB962C8B-B14F-4D97-AF65-F5344CB8AC3E}">
        <p14:creationId xmlns:p14="http://schemas.microsoft.com/office/powerpoint/2010/main" val="4205465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3111-7A51-F009-4A38-5B7C0BAF1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RQ2- Tossicità per fazione sui </a:t>
            </a:r>
            <a:r>
              <a:rPr lang="it-IT" dirty="0" err="1"/>
              <a:t>boicotaggi</a:t>
            </a:r>
            <a:r>
              <a:rPr lang="it-IT" dirty="0"/>
              <a:t> e media ‘woke’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5B2AF8-BC07-42B8-3A83-0A296B5F8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373" y="2395205"/>
            <a:ext cx="6093254" cy="3620008"/>
          </a:xfrm>
          <a:prstGeom prst="rect">
            <a:avLst/>
          </a:prstGeom>
          <a:effectLst>
            <a:outerShdw blurRad="635000" sx="105000" sy="105000" algn="ctr" rotWithShape="0">
              <a:schemeClr val="accent5"/>
            </a:outerShdw>
          </a:effectLst>
        </p:spPr>
      </p:pic>
    </p:spTree>
    <p:extLst>
      <p:ext uri="{BB962C8B-B14F-4D97-AF65-F5344CB8AC3E}">
        <p14:creationId xmlns:p14="http://schemas.microsoft.com/office/powerpoint/2010/main" val="3885691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9C355-F3F5-9228-67C2-7C6562EA8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it-IT" dirty="0"/>
              <a:t>RQ2- </a:t>
            </a:r>
            <a:r>
              <a:rPr lang="en-IT" dirty="0"/>
              <a:t>Previsione della diffusione dell'indignazione: simulazione epidemiologica</a:t>
            </a:r>
            <a:endParaRPr lang="it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3AD626-90F6-3984-1374-76CA5EA72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129" y="2344077"/>
            <a:ext cx="5815742" cy="3862104"/>
          </a:xfrm>
          <a:prstGeom prst="rect">
            <a:avLst/>
          </a:prstGeom>
          <a:effectLst>
            <a:outerShdw blurRad="635000" sx="105000" sy="105000" algn="ctr" rotWithShape="0">
              <a:schemeClr val="accent5"/>
            </a:outerShdw>
          </a:effectLst>
        </p:spPr>
      </p:pic>
    </p:spTree>
    <p:extLst>
      <p:ext uri="{BB962C8B-B14F-4D97-AF65-F5344CB8AC3E}">
        <p14:creationId xmlns:p14="http://schemas.microsoft.com/office/powerpoint/2010/main" val="1669770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BEEEB-685E-7B48-076F-4F62916F2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dirty="0"/>
              <a:t>Machine Learning task: </a:t>
            </a:r>
            <a:r>
              <a:rPr lang="en-IT" dirty="0"/>
              <a:t>bilanciamento del dataset </a:t>
            </a:r>
            <a:endParaRPr lang="it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8770AD-E70D-0CAE-85E9-9AD2678C3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137" y="2356253"/>
            <a:ext cx="6207725" cy="3864774"/>
          </a:xfrm>
          <a:prstGeom prst="rect">
            <a:avLst/>
          </a:prstGeom>
          <a:effectLst>
            <a:outerShdw blurRad="635000" sx="105000" sy="105000" algn="ctr" rotWithShape="0">
              <a:schemeClr val="accent4"/>
            </a:outerShdw>
          </a:effectLst>
        </p:spPr>
      </p:pic>
    </p:spTree>
    <p:extLst>
      <p:ext uri="{BB962C8B-B14F-4D97-AF65-F5344CB8AC3E}">
        <p14:creationId xmlns:p14="http://schemas.microsoft.com/office/powerpoint/2010/main" val="3973673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89EBD-93AF-058D-20A0-EE7DE1841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Machine Learning task: Matrice di confusione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783F79-2AFB-51DD-87B0-09681FEAD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88" y="2160133"/>
            <a:ext cx="4890311" cy="3897541"/>
          </a:xfrm>
          <a:prstGeom prst="rect">
            <a:avLst/>
          </a:prstGeom>
          <a:effectLst>
            <a:outerShdw blurRad="635000" sx="105000" sy="105000" algn="ctr" rotWithShape="0">
              <a:schemeClr val="accent4"/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777492-834D-7AB5-B365-FADEC34D25B4}"/>
              </a:ext>
            </a:extLst>
          </p:cNvPr>
          <p:cNvSpPr txBox="1"/>
          <p:nvPr/>
        </p:nvSpPr>
        <p:spPr>
          <a:xfrm>
            <a:off x="6346372" y="3785737"/>
            <a:ext cx="2667000" cy="715089"/>
          </a:xfrm>
          <a:prstGeom prst="round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IT" dirty="0">
                <a:solidFill>
                  <a:schemeClr val="bg1"/>
                </a:solidFill>
              </a:rPr>
              <a:t>Training set: 6033 post </a:t>
            </a:r>
          </a:p>
          <a:p>
            <a:r>
              <a:rPr lang="en-IT" dirty="0">
                <a:solidFill>
                  <a:schemeClr val="bg1"/>
                </a:solidFill>
              </a:rPr>
              <a:t>Test set: 1509 post</a:t>
            </a:r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822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7BE81-9E30-E7A5-3BF7-2575625E1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Machine Learning task: risultati ottenuti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670E58-39E5-AE90-B6C3-E6F330557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250" y="2689388"/>
            <a:ext cx="5651500" cy="2985698"/>
          </a:xfrm>
          <a:prstGeom prst="rect">
            <a:avLst/>
          </a:prstGeom>
          <a:effectLst>
            <a:outerShdw blurRad="635000" sx="105000" sy="105000" algn="ctr" rotWithShape="0">
              <a:schemeClr val="accent4"/>
            </a:outerShdw>
          </a:effectLst>
        </p:spPr>
      </p:pic>
    </p:spTree>
    <p:extLst>
      <p:ext uri="{BB962C8B-B14F-4D97-AF65-F5344CB8AC3E}">
        <p14:creationId xmlns:p14="http://schemas.microsoft.com/office/powerpoint/2010/main" val="4260789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FCF4-E51C-7590-CD20-388C17F67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Machine Learning task: Top 15 keyword individuate dal modello.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DEB0A6-BD0E-230B-5DF4-36DDEDEEB3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889"/>
          <a:stretch>
            <a:fillRect/>
          </a:stretch>
        </p:blipFill>
        <p:spPr>
          <a:xfrm>
            <a:off x="1856315" y="2177141"/>
            <a:ext cx="5431370" cy="4077739"/>
          </a:xfrm>
          <a:prstGeom prst="rect">
            <a:avLst/>
          </a:prstGeom>
          <a:effectLst>
            <a:outerShdw blurRad="635000" sx="105000" sy="105000" algn="ctr" rotWithShape="0">
              <a:schemeClr val="accent4"/>
            </a:outerShdw>
          </a:effectLst>
        </p:spPr>
      </p:pic>
    </p:spTree>
    <p:extLst>
      <p:ext uri="{BB962C8B-B14F-4D97-AF65-F5344CB8AC3E}">
        <p14:creationId xmlns:p14="http://schemas.microsoft.com/office/powerpoint/2010/main" val="1938073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E5058-36AD-87D2-1D5E-FA21A0ABA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Conclusioni: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CD080-E070-E920-C3BD-1F0971D79D91}"/>
              </a:ext>
            </a:extLst>
          </p:cNvPr>
          <p:cNvSpPr txBox="1"/>
          <p:nvPr/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 dirty="0" err="1"/>
              <a:t>Modularità</a:t>
            </a:r>
            <a:r>
              <a:rPr lang="en-US" sz="2000" b="1" dirty="0"/>
              <a:t> (0.8145):</a:t>
            </a:r>
            <a:r>
              <a:rPr lang="en-US" sz="2000" dirty="0"/>
              <a:t> </a:t>
            </a:r>
            <a:r>
              <a:rPr lang="en-US" sz="2000" dirty="0" err="1"/>
              <a:t>Questo</a:t>
            </a:r>
            <a:r>
              <a:rPr lang="en-US" sz="2000" dirty="0"/>
              <a:t> </a:t>
            </a:r>
            <a:r>
              <a:rPr lang="en-US" sz="2000" dirty="0" err="1"/>
              <a:t>numero</a:t>
            </a:r>
            <a:r>
              <a:rPr lang="en-US" sz="2000" dirty="0"/>
              <a:t> </a:t>
            </a:r>
            <a:r>
              <a:rPr lang="en-US" sz="2000" dirty="0" err="1"/>
              <a:t>è</a:t>
            </a:r>
            <a:r>
              <a:rPr lang="en-US" sz="2000" dirty="0"/>
              <a:t> il "</a:t>
            </a:r>
            <a:r>
              <a:rPr lang="en-US" sz="2000" dirty="0" err="1"/>
              <a:t>martello</a:t>
            </a:r>
            <a:r>
              <a:rPr lang="en-US" sz="2000" dirty="0"/>
              <a:t>" </a:t>
            </a:r>
            <a:r>
              <a:rPr lang="en-US" sz="2000" dirty="0" err="1"/>
              <a:t>che</a:t>
            </a:r>
            <a:r>
              <a:rPr lang="en-US" sz="2000" dirty="0"/>
              <a:t> </a:t>
            </a:r>
            <a:r>
              <a:rPr lang="en-US" sz="2000" dirty="0" err="1"/>
              <a:t>chiude</a:t>
            </a:r>
            <a:r>
              <a:rPr lang="en-US" sz="2000" dirty="0"/>
              <a:t> la </a:t>
            </a:r>
            <a:r>
              <a:rPr lang="en-US" sz="2000" b="1" dirty="0"/>
              <a:t>RQ1</a:t>
            </a:r>
            <a:r>
              <a:rPr lang="en-US" sz="2000" dirty="0"/>
              <a:t>. La </a:t>
            </a:r>
            <a:r>
              <a:rPr lang="en-US" sz="2000" dirty="0" err="1"/>
              <a:t>soglia</a:t>
            </a:r>
            <a:r>
              <a:rPr lang="en-US" sz="2000" dirty="0"/>
              <a:t> di </a:t>
            </a:r>
            <a:r>
              <a:rPr lang="en-US" sz="2000" dirty="0" err="1"/>
              <a:t>allerta</a:t>
            </a:r>
            <a:r>
              <a:rPr lang="en-US" sz="2000" dirty="0"/>
              <a:t> per </a:t>
            </a:r>
            <a:r>
              <a:rPr lang="en-US" sz="2000" dirty="0" err="1"/>
              <a:t>una</a:t>
            </a:r>
            <a:r>
              <a:rPr lang="en-US" sz="2000" dirty="0"/>
              <a:t> rete </a:t>
            </a:r>
            <a:r>
              <a:rPr lang="en-US" sz="2000" dirty="0" err="1"/>
              <a:t>frammentata</a:t>
            </a:r>
            <a:r>
              <a:rPr lang="en-US" sz="2000" dirty="0"/>
              <a:t> </a:t>
            </a:r>
            <a:r>
              <a:rPr lang="en-US" sz="2000" dirty="0" err="1"/>
              <a:t>è</a:t>
            </a:r>
            <a:r>
              <a:rPr lang="en-US" sz="2000" dirty="0"/>
              <a:t> 0.4. Avere 0.81 </a:t>
            </a:r>
            <a:r>
              <a:rPr lang="en-US" sz="2000" dirty="0" err="1"/>
              <a:t>significa</a:t>
            </a:r>
            <a:r>
              <a:rPr lang="en-US" sz="2000" dirty="0"/>
              <a:t> </a:t>
            </a:r>
            <a:r>
              <a:rPr lang="en-US" sz="2000" dirty="0" err="1"/>
              <a:t>che</a:t>
            </a:r>
            <a:r>
              <a:rPr lang="en-US" sz="2000" dirty="0"/>
              <a:t> la rete </a:t>
            </a:r>
            <a:r>
              <a:rPr lang="en-US" sz="2000" dirty="0" err="1"/>
              <a:t>è</a:t>
            </a:r>
            <a:r>
              <a:rPr lang="en-US" sz="2000" dirty="0"/>
              <a:t> </a:t>
            </a:r>
            <a:r>
              <a:rPr lang="en-US" sz="2000" dirty="0" err="1"/>
              <a:t>letteralmente</a:t>
            </a:r>
            <a:r>
              <a:rPr lang="en-US" sz="2000" dirty="0"/>
              <a:t> </a:t>
            </a:r>
            <a:r>
              <a:rPr lang="en-US" sz="2000" dirty="0" err="1"/>
              <a:t>spaccata</a:t>
            </a:r>
            <a:r>
              <a:rPr lang="en-US" sz="2000" dirty="0"/>
              <a:t>. Si </a:t>
            </a:r>
            <a:r>
              <a:rPr lang="en-US" sz="2000" dirty="0" err="1"/>
              <a:t>sposa</a:t>
            </a:r>
            <a:r>
              <a:rPr lang="en-US" sz="2000" dirty="0"/>
              <a:t> </a:t>
            </a:r>
            <a:r>
              <a:rPr lang="en-US" sz="2000" dirty="0" err="1"/>
              <a:t>perfettamente</a:t>
            </a:r>
            <a:r>
              <a:rPr lang="en-US" sz="2000" dirty="0"/>
              <a:t> con </a:t>
            </a:r>
            <a:r>
              <a:rPr lang="en-US" sz="2000" dirty="0" err="1"/>
              <a:t>l'Assortatività</a:t>
            </a:r>
            <a:r>
              <a:rPr lang="en-US" sz="2000" dirty="0"/>
              <a:t> (0.869) </a:t>
            </a:r>
            <a:r>
              <a:rPr lang="en-US" sz="2000" dirty="0" err="1"/>
              <a:t>mostrata</a:t>
            </a:r>
            <a:r>
              <a:rPr lang="en-US" sz="2000" dirty="0"/>
              <a:t> prima.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 dirty="0" err="1"/>
              <a:t>Polarizzazione</a:t>
            </a:r>
            <a:r>
              <a:rPr lang="en-US" sz="2000" b="1" dirty="0"/>
              <a:t> (0.5063):</a:t>
            </a:r>
            <a:r>
              <a:rPr lang="en-US" sz="2000" dirty="0"/>
              <a:t> </a:t>
            </a:r>
            <a:r>
              <a:rPr lang="en-US" sz="2000" dirty="0" err="1"/>
              <a:t>Questo</a:t>
            </a:r>
            <a:r>
              <a:rPr lang="en-US" sz="2000" dirty="0"/>
              <a:t> </a:t>
            </a:r>
            <a:r>
              <a:rPr lang="en-US" sz="2000" dirty="0" err="1"/>
              <a:t>chiude</a:t>
            </a:r>
            <a:r>
              <a:rPr lang="en-US" sz="2000" dirty="0"/>
              <a:t> la </a:t>
            </a:r>
            <a:r>
              <a:rPr lang="en-US" sz="2000" b="1" dirty="0"/>
              <a:t>RQ2</a:t>
            </a:r>
            <a:r>
              <a:rPr lang="en-US" sz="2000" dirty="0"/>
              <a:t>. Misura la </a:t>
            </a:r>
            <a:r>
              <a:rPr lang="en-US" sz="2000" dirty="0" err="1"/>
              <a:t>distanza</a:t>
            </a:r>
            <a:r>
              <a:rPr lang="en-US" sz="2000" dirty="0"/>
              <a:t> </a:t>
            </a:r>
            <a:r>
              <a:rPr lang="en-US" sz="2000" dirty="0" err="1"/>
              <a:t>ideologica</a:t>
            </a:r>
            <a:r>
              <a:rPr lang="en-US" sz="2000" dirty="0"/>
              <a:t> </a:t>
            </a:r>
            <a:r>
              <a:rPr lang="en-US" sz="2000" dirty="0" err="1"/>
              <a:t>effettiva</a:t>
            </a:r>
            <a:r>
              <a:rPr lang="en-US" sz="2000" dirty="0"/>
              <a:t> </a:t>
            </a:r>
            <a:r>
              <a:rPr lang="en-US" sz="2000" dirty="0" err="1"/>
              <a:t>tra</a:t>
            </a:r>
            <a:r>
              <a:rPr lang="en-US" sz="2000" dirty="0"/>
              <a:t> le </a:t>
            </a:r>
            <a:r>
              <a:rPr lang="en-US" sz="2000" dirty="0" err="1"/>
              <a:t>fazioni</a:t>
            </a:r>
            <a:r>
              <a:rPr lang="en-US" sz="2000" dirty="0"/>
              <a:t> </a:t>
            </a:r>
            <a:r>
              <a:rPr lang="en-US" sz="2000" dirty="0" err="1"/>
              <a:t>estreme</a:t>
            </a:r>
            <a:r>
              <a:rPr lang="en-US" sz="2000" dirty="0"/>
              <a:t>.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8213D8-DDE2-DE44-9A9E-FAC97D8B72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40"/>
          <a:stretch>
            <a:fillRect/>
          </a:stretch>
        </p:blipFill>
        <p:spPr>
          <a:xfrm>
            <a:off x="4629150" y="2332892"/>
            <a:ext cx="3871103" cy="334986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64830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dirty="0" err="1"/>
              <a:t>Conclusioni</a:t>
            </a:r>
            <a:r>
              <a:rPr lang="en-GB" dirty="0"/>
              <a:t>: Sentiment Analysis: Il </a:t>
            </a:r>
            <a:r>
              <a:rPr lang="en-GB" dirty="0" err="1"/>
              <a:t>Profilo</a:t>
            </a:r>
            <a:r>
              <a:rPr lang="en-GB" dirty="0"/>
              <a:t> </a:t>
            </a:r>
            <a:r>
              <a:rPr lang="en-GB" dirty="0" err="1"/>
              <a:t>Emotivo</a:t>
            </a:r>
            <a:r>
              <a:rPr lang="en-GB" dirty="0"/>
              <a:t> delle 20 community più grandi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6AA725-4A4D-5C1E-39A5-4967FC0B22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97"/>
          <a:stretch>
            <a:fillRect/>
          </a:stretch>
        </p:blipFill>
        <p:spPr>
          <a:xfrm>
            <a:off x="744344" y="2524952"/>
            <a:ext cx="7772400" cy="3601211"/>
          </a:xfrm>
          <a:prstGeom prst="rect">
            <a:avLst/>
          </a:prstGeom>
          <a:effectLst>
            <a:outerShdw blurRad="377766" dir="21540000" sx="103173" sy="103173" algn="ctr" rotWithShape="0">
              <a:schemeClr val="accent5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4B2FF-795F-7824-1A91-D50E9823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 fontScale="90000"/>
          </a:bodyPr>
          <a:lstStyle/>
          <a:p>
            <a:r>
              <a:rPr lang="it-IT" sz="4000" dirty="0"/>
              <a:t>Conclusioni: </a:t>
            </a:r>
            <a:r>
              <a:rPr lang="en-IT" sz="4000" dirty="0"/>
              <a:t>come possono esserci toni così tossici se gli utenti vivono quasi solo nelle proprie Echo Chambers?</a:t>
            </a:r>
            <a:br>
              <a:rPr lang="en-IT" sz="2400" dirty="0"/>
            </a:br>
            <a:endParaRPr lang="it-IT" sz="2400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1D2E853F-C2AB-022F-1FD2-219BAE9B99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2635575"/>
              </p:ext>
            </p:extLst>
          </p:nvPr>
        </p:nvGraphicFramePr>
        <p:xfrm>
          <a:off x="628650" y="1895963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65108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F5267-B7F7-EC85-30D2-6753F091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IT" b="1" dirty="0"/>
              <a:t>Sviluppi Futuri</a:t>
            </a:r>
            <a:br>
              <a:rPr lang="en-IT" dirty="0"/>
            </a:br>
            <a:endParaRPr lang="it-IT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E536D6-296D-8035-A882-2151CB0FFF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845870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6302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4712</TotalTime>
  <Words>1030</Words>
  <Application>Microsoft Macintosh PowerPoint</Application>
  <PresentationFormat>On-screen Show (4:3)</PresentationFormat>
  <Paragraphs>86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2013 - 2022 Theme</vt:lpstr>
      <vt:lpstr>Dinamiche di Polarizzazione Digitale: Woke vs anti-Woke</vt:lpstr>
      <vt:lpstr>Research Questions: Struttura vs Dinamica e Machine Learning Tasks </vt:lpstr>
      <vt:lpstr>RQ1 - Data Collection: Dallo Scraper alla Rete</vt:lpstr>
      <vt:lpstr>RQ1 - Network Structure: Costruzione del Grafo</vt:lpstr>
      <vt:lpstr>RQ1 - Clustering: Identificazione delle communities</vt:lpstr>
      <vt:lpstr>RQ1 - Network Analysis: La Legge di Potenza</vt:lpstr>
      <vt:lpstr>RQ1- Le 10 parole più usate nell’ecosistema delle 20 community più grandi</vt:lpstr>
      <vt:lpstr>RQ1 - Network Analysis: Misurare la Disuguaglianza</vt:lpstr>
      <vt:lpstr>RQ1 - Network Analysis:  I Catalizzatori del Dibattito</vt:lpstr>
      <vt:lpstr>RQ1 – Network Analysis: Clustering Coefficient sulla rete globale</vt:lpstr>
      <vt:lpstr>RQ1 – Network Analysis: Propagazione dell'Informazione</vt:lpstr>
      <vt:lpstr>RQ1- I Leader Strutturali: identificazione degli Hub tramite In-Degree Centrality</vt:lpstr>
      <vt:lpstr>RQ1- Validazione statistica: La significatività dell’assortatività </vt:lpstr>
      <vt:lpstr>RQ2- Anatomia del Conflitto</vt:lpstr>
      <vt:lpstr>RQ2- Anatomia del Conflitto</vt:lpstr>
      <vt:lpstr>RQ2- I mondi linguistici: analisi dei sotto-temi e dei vocabolari identitari delle fazioni </vt:lpstr>
      <vt:lpstr>RQ2- L'Impronta Emotiva: scomposizione del dibattito in 4 emozioni tramite il Radar Chart</vt:lpstr>
      <vt:lpstr>RQ2- Lo scontro cross-partisan: volumi di interazione esterna e livelli di tossicità associati</vt:lpstr>
      <vt:lpstr>RQ2- L'Arena dei Top-User: gli scontri diretti al vertice tra influencer</vt:lpstr>
      <vt:lpstr>RQ2- Dinamiche di Escalation: la relazione tra la persistenza di una discussione e il suo livello di tossicità</vt:lpstr>
      <vt:lpstr>RQ2- L'impatto degli eventi reali: come un evento potrebbe scatenare il conflitto online</vt:lpstr>
      <vt:lpstr>RQ2- Tossicità per fazione sull’evento ‘Harvard /Claudine Gay’  </vt:lpstr>
      <vt:lpstr>RQ2- Tossicità per fazione sui boicotaggi e media ‘woke’</vt:lpstr>
      <vt:lpstr>RQ2- Previsione della diffusione dell'indignazione: simulazione epidemiologica</vt:lpstr>
      <vt:lpstr>Machine Learning task: bilanciamento del dataset </vt:lpstr>
      <vt:lpstr>Machine Learning task: Matrice di confusione</vt:lpstr>
      <vt:lpstr>Machine Learning task: risultati ottenuti</vt:lpstr>
      <vt:lpstr>Machine Learning task: Top 15 keyword individuate dal modello.</vt:lpstr>
      <vt:lpstr>Conclusioni: </vt:lpstr>
      <vt:lpstr>Conclusioni: Sentiment Analysis: Il Profilo Emotivo delle 20 community più grandi</vt:lpstr>
      <vt:lpstr>Conclusioni: come possono esserci toni così tossici se gli utenti vivono quasi solo nelle proprie Echo Chambers? </vt:lpstr>
      <vt:lpstr>Sviluppi Futuri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Riccardo Baldo</cp:lastModifiedBy>
  <cp:revision>6</cp:revision>
  <dcterms:created xsi:type="dcterms:W3CDTF">2013-01-27T09:14:16Z</dcterms:created>
  <dcterms:modified xsi:type="dcterms:W3CDTF">2026-06-25T19:44:28Z</dcterms:modified>
  <cp:category/>
</cp:coreProperties>
</file>